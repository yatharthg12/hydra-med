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1" r:id="rId6"/>
    <p:sldId id="263" r:id="rId7"/>
    <p:sldId id="264" r:id="rId8"/>
    <p:sldId id="269" r:id="rId9"/>
    <p:sldId id="270" r:id="rId10"/>
    <p:sldId id="266" r:id="rId11"/>
    <p:sldId id="265" r:id="rId12"/>
    <p:sldId id="268" r:id="rId13"/>
  </p:sldIdLst>
  <p:sldSz cx="14630400" cy="8229600"/>
  <p:notesSz cx="8229600" cy="14630400"/>
  <p:embeddedFontLst>
    <p:embeddedFont>
      <p:font typeface="Calibri" panose="020F0502020204030204" pitchFamily="34" charset="0"/>
      <p:regular r:id="rId15"/>
      <p:bold r:id="rId16"/>
      <p:italic r:id="rId17"/>
      <p:boldItalic r:id="rId18"/>
    </p:embeddedFont>
    <p:embeddedFont>
      <p:font typeface="Calibri Light" panose="020F0302020204030204" pitchFamily="34" charset="0"/>
      <p:regular r:id="rId19"/>
      <p:italic r:id="rId20"/>
    </p:embeddedFont>
    <p:embeddedFont>
      <p:font typeface="Fraunces Extra Bold" panose="020B0604020202020204" charset="0"/>
      <p:regular r:id="rId21"/>
    </p:embeddedFont>
    <p:embeddedFont>
      <p:font typeface="Nobile"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1522" y="5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C18FBF-3FF5-4C16-97CF-AF03740D7AB6}" type="doc">
      <dgm:prSet loTypeId="urn:microsoft.com/office/officeart/2005/8/layout/hList9" loCatId="list" qsTypeId="urn:microsoft.com/office/officeart/2005/8/quickstyle/simple4" qsCatId="simple" csTypeId="urn:microsoft.com/office/officeart/2005/8/colors/accent1_2" csCatId="accent1" phldr="1"/>
      <dgm:spPr/>
      <dgm:t>
        <a:bodyPr/>
        <a:lstStyle/>
        <a:p>
          <a:endParaRPr lang="en-US"/>
        </a:p>
      </dgm:t>
    </dgm:pt>
    <dgm:pt modelId="{B4F1B46E-22B2-4721-950C-8704487586DC}">
      <dgm:prSet phldrT="[Text]"/>
      <dgm:spPr/>
      <dgm:t>
        <a:bodyPr/>
        <a:lstStyle/>
        <a:p>
          <a:r>
            <a:rPr lang="en-US" dirty="0"/>
            <a:t>Phase1</a:t>
          </a:r>
        </a:p>
        <a:p>
          <a:r>
            <a:rPr lang="en-US" dirty="0"/>
            <a:t>10%  </a:t>
          </a:r>
        </a:p>
      </dgm:t>
    </dgm:pt>
    <dgm:pt modelId="{E8A66543-CC4D-4785-A93E-5B125E09F826}" type="parTrans" cxnId="{2C8317B2-2EBB-4589-86EA-C77B3B6E81AA}">
      <dgm:prSet/>
      <dgm:spPr/>
      <dgm:t>
        <a:bodyPr/>
        <a:lstStyle/>
        <a:p>
          <a:endParaRPr lang="en-US"/>
        </a:p>
      </dgm:t>
    </dgm:pt>
    <dgm:pt modelId="{A7E2530A-34E2-4E9F-BC78-8920BA140C41}" type="sibTrans" cxnId="{2C8317B2-2EBB-4589-86EA-C77B3B6E81AA}">
      <dgm:prSet/>
      <dgm:spPr/>
      <dgm:t>
        <a:bodyPr/>
        <a:lstStyle/>
        <a:p>
          <a:endParaRPr lang="en-US"/>
        </a:p>
      </dgm:t>
    </dgm:pt>
    <dgm:pt modelId="{9D72CDD3-5859-43DB-BD75-0C3C30E3DE62}">
      <dgm:prSet phldrT="[Text]"/>
      <dgm:spPr/>
      <dgm:t>
        <a:bodyPr/>
        <a:lstStyle/>
        <a:p>
          <a:r>
            <a:rPr lang="en-US" dirty="0"/>
            <a:t>Literature Review</a:t>
          </a:r>
        </a:p>
      </dgm:t>
    </dgm:pt>
    <dgm:pt modelId="{1D5B1F83-33A7-4298-BC11-2B1252AFAEA5}" type="parTrans" cxnId="{DDB5AD9A-40B0-48EF-AF2C-8CCDA330F7FE}">
      <dgm:prSet/>
      <dgm:spPr/>
      <dgm:t>
        <a:bodyPr/>
        <a:lstStyle/>
        <a:p>
          <a:endParaRPr lang="en-US"/>
        </a:p>
      </dgm:t>
    </dgm:pt>
    <dgm:pt modelId="{15E25BD4-1EBF-43C2-8885-DBF66B8429E1}" type="sibTrans" cxnId="{DDB5AD9A-40B0-48EF-AF2C-8CCDA330F7FE}">
      <dgm:prSet/>
      <dgm:spPr/>
      <dgm:t>
        <a:bodyPr/>
        <a:lstStyle/>
        <a:p>
          <a:endParaRPr lang="en-US"/>
        </a:p>
      </dgm:t>
    </dgm:pt>
    <dgm:pt modelId="{7CB6360B-4022-4E96-922B-A12DE0E2A39F}">
      <dgm:prSet phldrT="[Text]"/>
      <dgm:spPr/>
      <dgm:t>
        <a:bodyPr/>
        <a:lstStyle/>
        <a:p>
          <a:r>
            <a:rPr lang="en-US" dirty="0"/>
            <a:t>Problem identification</a:t>
          </a:r>
        </a:p>
      </dgm:t>
    </dgm:pt>
    <dgm:pt modelId="{44B2858F-607B-47DF-B44B-EA7D73FDC9F2}" type="parTrans" cxnId="{CD5EFFB3-C9FD-4DAC-8D97-0C2FB02B380B}">
      <dgm:prSet/>
      <dgm:spPr/>
      <dgm:t>
        <a:bodyPr/>
        <a:lstStyle/>
        <a:p>
          <a:endParaRPr lang="en-US"/>
        </a:p>
      </dgm:t>
    </dgm:pt>
    <dgm:pt modelId="{B35ED9D1-2A17-4034-8D08-4945CA54F6C9}" type="sibTrans" cxnId="{CD5EFFB3-C9FD-4DAC-8D97-0C2FB02B380B}">
      <dgm:prSet/>
      <dgm:spPr/>
      <dgm:t>
        <a:bodyPr/>
        <a:lstStyle/>
        <a:p>
          <a:endParaRPr lang="en-US"/>
        </a:p>
      </dgm:t>
    </dgm:pt>
    <dgm:pt modelId="{70879558-61CA-4CCD-B2D6-5349B01EF337}">
      <dgm:prSet phldrT="[Text]"/>
      <dgm:spPr/>
      <dgm:t>
        <a:bodyPr/>
        <a:lstStyle/>
        <a:p>
          <a:r>
            <a:rPr lang="en-US" dirty="0"/>
            <a:t>Objectives formulation</a:t>
          </a:r>
        </a:p>
      </dgm:t>
    </dgm:pt>
    <dgm:pt modelId="{95F5E6EE-4E8D-49F8-8C9E-8BBFD01B6A0E}" type="parTrans" cxnId="{8FAB4659-6291-457D-941A-93BCD304031A}">
      <dgm:prSet/>
      <dgm:spPr/>
      <dgm:t>
        <a:bodyPr/>
        <a:lstStyle/>
        <a:p>
          <a:endParaRPr lang="en-US"/>
        </a:p>
      </dgm:t>
    </dgm:pt>
    <dgm:pt modelId="{053E317B-DD3F-4AFF-90D1-A55D37D325DC}" type="sibTrans" cxnId="{8FAB4659-6291-457D-941A-93BCD304031A}">
      <dgm:prSet/>
      <dgm:spPr/>
      <dgm:t>
        <a:bodyPr/>
        <a:lstStyle/>
        <a:p>
          <a:endParaRPr lang="en-US"/>
        </a:p>
      </dgm:t>
    </dgm:pt>
    <dgm:pt modelId="{F2881FB1-6580-4F21-A283-BFAA6F91D5D2}">
      <dgm:prSet phldrT="[Text]"/>
      <dgm:spPr/>
      <dgm:t>
        <a:bodyPr/>
        <a:lstStyle/>
        <a:p>
          <a:r>
            <a:rPr lang="en-US" dirty="0"/>
            <a:t>Phase 2 30%</a:t>
          </a:r>
        </a:p>
      </dgm:t>
    </dgm:pt>
    <dgm:pt modelId="{2D960FDD-BADA-480D-9043-497C56588AD3}" type="parTrans" cxnId="{4A31D641-1B5D-46D3-B685-0C4DC6EFE71B}">
      <dgm:prSet/>
      <dgm:spPr/>
      <dgm:t>
        <a:bodyPr/>
        <a:lstStyle/>
        <a:p>
          <a:endParaRPr lang="en-US"/>
        </a:p>
      </dgm:t>
    </dgm:pt>
    <dgm:pt modelId="{A5ABDC17-7AB5-4F0E-992A-F9343F5D74EB}" type="sibTrans" cxnId="{4A31D641-1B5D-46D3-B685-0C4DC6EFE71B}">
      <dgm:prSet/>
      <dgm:spPr/>
      <dgm:t>
        <a:bodyPr/>
        <a:lstStyle/>
        <a:p>
          <a:endParaRPr lang="en-US"/>
        </a:p>
      </dgm:t>
    </dgm:pt>
    <dgm:pt modelId="{D5197DDB-D5D2-499F-B255-CF7BB5AE2B43}">
      <dgm:prSet phldrT="[Text]"/>
      <dgm:spPr/>
      <dgm:t>
        <a:bodyPr/>
        <a:lstStyle/>
        <a:p>
          <a:r>
            <a:rPr lang="en-US" dirty="0"/>
            <a:t>Modelling</a:t>
          </a:r>
        </a:p>
      </dgm:t>
    </dgm:pt>
    <dgm:pt modelId="{B14A4DC9-F40A-4867-ADB8-4BA8A1F83766}" type="parTrans" cxnId="{3204ED53-15A0-4643-A582-021A785F1BA2}">
      <dgm:prSet/>
      <dgm:spPr/>
      <dgm:t>
        <a:bodyPr/>
        <a:lstStyle/>
        <a:p>
          <a:endParaRPr lang="en-US"/>
        </a:p>
      </dgm:t>
    </dgm:pt>
    <dgm:pt modelId="{29F2454A-2FA8-4B3A-AC63-4A0B9FD04A75}" type="sibTrans" cxnId="{3204ED53-15A0-4643-A582-021A785F1BA2}">
      <dgm:prSet/>
      <dgm:spPr/>
      <dgm:t>
        <a:bodyPr/>
        <a:lstStyle/>
        <a:p>
          <a:endParaRPr lang="en-US"/>
        </a:p>
      </dgm:t>
    </dgm:pt>
    <dgm:pt modelId="{29E78340-8EBE-415C-B973-78A91A054B9C}">
      <dgm:prSet phldrT="[Text]"/>
      <dgm:spPr/>
      <dgm:t>
        <a:bodyPr/>
        <a:lstStyle/>
        <a:p>
          <a:r>
            <a:rPr lang="en-US" dirty="0"/>
            <a:t>Simulation</a:t>
          </a:r>
        </a:p>
      </dgm:t>
    </dgm:pt>
    <dgm:pt modelId="{FF4E5F97-6974-4E39-A85D-DCB2E100798E}" type="parTrans" cxnId="{311348D8-FDE3-4C22-99F5-3B98C5F51F0D}">
      <dgm:prSet/>
      <dgm:spPr/>
      <dgm:t>
        <a:bodyPr/>
        <a:lstStyle/>
        <a:p>
          <a:endParaRPr lang="en-US"/>
        </a:p>
      </dgm:t>
    </dgm:pt>
    <dgm:pt modelId="{B4B9A51E-FA34-465E-B5B4-81CD76EB3FC2}" type="sibTrans" cxnId="{311348D8-FDE3-4C22-99F5-3B98C5F51F0D}">
      <dgm:prSet/>
      <dgm:spPr/>
      <dgm:t>
        <a:bodyPr/>
        <a:lstStyle/>
        <a:p>
          <a:endParaRPr lang="en-US"/>
        </a:p>
      </dgm:t>
    </dgm:pt>
    <dgm:pt modelId="{8321AB85-EA8C-4958-B404-B4C118CB3C18}">
      <dgm:prSet phldrT="[Text]"/>
      <dgm:spPr/>
      <dgm:t>
        <a:bodyPr/>
        <a:lstStyle/>
        <a:p>
          <a:r>
            <a:rPr lang="en-US" dirty="0"/>
            <a:t>Experiment</a:t>
          </a:r>
        </a:p>
      </dgm:t>
    </dgm:pt>
    <dgm:pt modelId="{24ABE8B3-7220-436D-9636-F7B4C0B99576}" type="parTrans" cxnId="{129AEA77-5D2A-49D4-956D-99009974B6C5}">
      <dgm:prSet/>
      <dgm:spPr/>
      <dgm:t>
        <a:bodyPr/>
        <a:lstStyle/>
        <a:p>
          <a:endParaRPr lang="en-US"/>
        </a:p>
      </dgm:t>
    </dgm:pt>
    <dgm:pt modelId="{AA5F76CE-8FD4-4692-8BB1-EF84CF9D365E}" type="sibTrans" cxnId="{129AEA77-5D2A-49D4-956D-99009974B6C5}">
      <dgm:prSet/>
      <dgm:spPr/>
      <dgm:t>
        <a:bodyPr/>
        <a:lstStyle/>
        <a:p>
          <a:endParaRPr lang="en-US"/>
        </a:p>
      </dgm:t>
    </dgm:pt>
    <dgm:pt modelId="{6352CA33-6755-44BE-808F-400DA4CF80A7}">
      <dgm:prSet phldrT="[Text]"/>
      <dgm:spPr/>
      <dgm:t>
        <a:bodyPr/>
        <a:lstStyle/>
        <a:p>
          <a:r>
            <a:rPr lang="en-US" dirty="0"/>
            <a:t>Phase 3 50%-70%</a:t>
          </a:r>
        </a:p>
      </dgm:t>
    </dgm:pt>
    <dgm:pt modelId="{AEB59203-63BA-4A96-BADC-40BAEBD9AA40}" type="parTrans" cxnId="{82BAE5DD-3A79-4870-9019-1254385E0650}">
      <dgm:prSet/>
      <dgm:spPr/>
      <dgm:t>
        <a:bodyPr/>
        <a:lstStyle/>
        <a:p>
          <a:endParaRPr lang="en-US"/>
        </a:p>
      </dgm:t>
    </dgm:pt>
    <dgm:pt modelId="{AAB4CF73-4B9B-4AA0-9074-16C2D2AE00A1}" type="sibTrans" cxnId="{82BAE5DD-3A79-4870-9019-1254385E0650}">
      <dgm:prSet/>
      <dgm:spPr/>
      <dgm:t>
        <a:bodyPr/>
        <a:lstStyle/>
        <a:p>
          <a:endParaRPr lang="en-US"/>
        </a:p>
      </dgm:t>
    </dgm:pt>
    <dgm:pt modelId="{9614A323-64B1-4077-A841-022051EC749A}">
      <dgm:prSet phldrT="[Text]"/>
      <dgm:spPr/>
      <dgm:t>
        <a:bodyPr/>
        <a:lstStyle/>
        <a:p>
          <a:r>
            <a:rPr lang="en-US" dirty="0"/>
            <a:t>Analysis</a:t>
          </a:r>
        </a:p>
      </dgm:t>
    </dgm:pt>
    <dgm:pt modelId="{E5F6BCBD-B84E-4018-BE9E-BF57FF3B4B36}" type="parTrans" cxnId="{FC7BD086-74EA-4D6C-9657-E916D355F209}">
      <dgm:prSet/>
      <dgm:spPr/>
      <dgm:t>
        <a:bodyPr/>
        <a:lstStyle/>
        <a:p>
          <a:endParaRPr lang="en-US"/>
        </a:p>
      </dgm:t>
    </dgm:pt>
    <dgm:pt modelId="{FEC2A79F-8857-403A-A738-E8CE75C965E2}" type="sibTrans" cxnId="{FC7BD086-74EA-4D6C-9657-E916D355F209}">
      <dgm:prSet/>
      <dgm:spPr/>
      <dgm:t>
        <a:bodyPr/>
        <a:lstStyle/>
        <a:p>
          <a:endParaRPr lang="en-US"/>
        </a:p>
      </dgm:t>
    </dgm:pt>
    <dgm:pt modelId="{3D5CDB25-F8FA-444B-8D4A-1D29D0CBA282}">
      <dgm:prSet phldrT="[Text]"/>
      <dgm:spPr/>
      <dgm:t>
        <a:bodyPr/>
        <a:lstStyle/>
        <a:p>
          <a:r>
            <a:rPr lang="en-US" dirty="0"/>
            <a:t>Paper drafting</a:t>
          </a:r>
        </a:p>
      </dgm:t>
    </dgm:pt>
    <dgm:pt modelId="{4C229933-AC16-44B7-98EC-4C0F07FABCB0}" type="parTrans" cxnId="{2E3C97E6-67D4-4948-B47A-1115C2B2979F}">
      <dgm:prSet/>
      <dgm:spPr/>
      <dgm:t>
        <a:bodyPr/>
        <a:lstStyle/>
        <a:p>
          <a:endParaRPr lang="en-US"/>
        </a:p>
      </dgm:t>
    </dgm:pt>
    <dgm:pt modelId="{189DA4C5-2A22-4C71-A806-7B4AB57767CC}" type="sibTrans" cxnId="{2E3C97E6-67D4-4948-B47A-1115C2B2979F}">
      <dgm:prSet/>
      <dgm:spPr/>
      <dgm:t>
        <a:bodyPr/>
        <a:lstStyle/>
        <a:p>
          <a:endParaRPr lang="en-US"/>
        </a:p>
      </dgm:t>
    </dgm:pt>
    <dgm:pt modelId="{7FCE83D9-631B-4420-BBFC-CA0AFA59F747}">
      <dgm:prSet phldrT="[Text]"/>
      <dgm:spPr/>
      <dgm:t>
        <a:bodyPr/>
        <a:lstStyle/>
        <a:p>
          <a:r>
            <a:rPr lang="en-US" dirty="0"/>
            <a:t>Phase 4 -80%</a:t>
          </a:r>
        </a:p>
      </dgm:t>
    </dgm:pt>
    <dgm:pt modelId="{C61EC981-13FA-4710-B079-D35692EEB764}" type="parTrans" cxnId="{E572418E-4340-4448-940D-253A2FA3B9B3}">
      <dgm:prSet/>
      <dgm:spPr/>
      <dgm:t>
        <a:bodyPr/>
        <a:lstStyle/>
        <a:p>
          <a:endParaRPr lang="en-US"/>
        </a:p>
      </dgm:t>
    </dgm:pt>
    <dgm:pt modelId="{1B48A0DE-4031-4D45-86A1-94CDAF68824A}" type="sibTrans" cxnId="{E572418E-4340-4448-940D-253A2FA3B9B3}">
      <dgm:prSet/>
      <dgm:spPr/>
      <dgm:t>
        <a:bodyPr/>
        <a:lstStyle/>
        <a:p>
          <a:endParaRPr lang="en-US"/>
        </a:p>
      </dgm:t>
    </dgm:pt>
    <dgm:pt modelId="{DB9FB862-4759-4D6A-84F3-01524B92723B}">
      <dgm:prSet phldrT="[Text]"/>
      <dgm:spPr/>
      <dgm:t>
        <a:bodyPr/>
        <a:lstStyle/>
        <a:p>
          <a:r>
            <a:rPr lang="en-US" dirty="0"/>
            <a:t>Paper Submitted to Journal</a:t>
          </a:r>
        </a:p>
      </dgm:t>
    </dgm:pt>
    <dgm:pt modelId="{CD1EE44C-3116-420B-89E3-1D797CB25D34}" type="parTrans" cxnId="{70CAB4FC-3D17-49C2-8A7B-F387031FCDCA}">
      <dgm:prSet/>
      <dgm:spPr/>
      <dgm:t>
        <a:bodyPr/>
        <a:lstStyle/>
        <a:p>
          <a:endParaRPr lang="en-US"/>
        </a:p>
      </dgm:t>
    </dgm:pt>
    <dgm:pt modelId="{4BD4D4A5-043E-4ED5-A5CA-8D46DADC3150}" type="sibTrans" cxnId="{70CAB4FC-3D17-49C2-8A7B-F387031FCDCA}">
      <dgm:prSet/>
      <dgm:spPr/>
      <dgm:t>
        <a:bodyPr/>
        <a:lstStyle/>
        <a:p>
          <a:endParaRPr lang="en-US"/>
        </a:p>
      </dgm:t>
    </dgm:pt>
    <dgm:pt modelId="{50451020-5E1A-4778-9E8D-169182A36191}">
      <dgm:prSet phldrT="[Text]"/>
      <dgm:spPr/>
      <dgm:t>
        <a:bodyPr/>
        <a:lstStyle/>
        <a:p>
          <a:r>
            <a:rPr lang="en-US" dirty="0"/>
            <a:t>Under Review</a:t>
          </a:r>
        </a:p>
      </dgm:t>
    </dgm:pt>
    <dgm:pt modelId="{7DFC3849-4A12-49FB-B614-8AFD597CCB9E}" type="parTrans" cxnId="{0F86DBDB-3C4F-4C84-981B-7F4CA2A8EAF3}">
      <dgm:prSet/>
      <dgm:spPr/>
      <dgm:t>
        <a:bodyPr/>
        <a:lstStyle/>
        <a:p>
          <a:endParaRPr lang="en-US"/>
        </a:p>
      </dgm:t>
    </dgm:pt>
    <dgm:pt modelId="{EEDE2474-4F18-4F59-8E58-6382D253E514}" type="sibTrans" cxnId="{0F86DBDB-3C4F-4C84-981B-7F4CA2A8EAF3}">
      <dgm:prSet/>
      <dgm:spPr/>
      <dgm:t>
        <a:bodyPr/>
        <a:lstStyle/>
        <a:p>
          <a:endParaRPr lang="en-US"/>
        </a:p>
      </dgm:t>
    </dgm:pt>
    <dgm:pt modelId="{F166C826-86F6-4F61-BCB5-AA5379E696B0}">
      <dgm:prSet/>
      <dgm:spPr/>
      <dgm:t>
        <a:bodyPr/>
        <a:lstStyle/>
        <a:p>
          <a:r>
            <a:rPr lang="en-US" dirty="0"/>
            <a:t>Literature gap</a:t>
          </a:r>
        </a:p>
      </dgm:t>
    </dgm:pt>
    <dgm:pt modelId="{1F6DC81C-749A-42B7-A5B1-105AF15B8B2C}" type="parTrans" cxnId="{0AE67E1D-C07E-4329-9BD9-B2AB03FE696C}">
      <dgm:prSet/>
      <dgm:spPr/>
      <dgm:t>
        <a:bodyPr/>
        <a:lstStyle/>
        <a:p>
          <a:endParaRPr lang="en-IN"/>
        </a:p>
      </dgm:t>
    </dgm:pt>
    <dgm:pt modelId="{7D90C543-FF0A-4D02-81DE-7FB26506ABDA}" type="sibTrans" cxnId="{0AE67E1D-C07E-4329-9BD9-B2AB03FE696C}">
      <dgm:prSet/>
      <dgm:spPr/>
      <dgm:t>
        <a:bodyPr/>
        <a:lstStyle/>
        <a:p>
          <a:endParaRPr lang="en-IN"/>
        </a:p>
      </dgm:t>
    </dgm:pt>
    <dgm:pt modelId="{0DC7A063-583D-4B0F-88B2-BD54F95D95AF}" type="pres">
      <dgm:prSet presAssocID="{00C18FBF-3FF5-4C16-97CF-AF03740D7AB6}" presName="list" presStyleCnt="0">
        <dgm:presLayoutVars>
          <dgm:dir/>
          <dgm:animLvl val="lvl"/>
        </dgm:presLayoutVars>
      </dgm:prSet>
      <dgm:spPr/>
    </dgm:pt>
    <dgm:pt modelId="{3B23570A-ECC9-4DF8-BCB4-0465C69CBB88}" type="pres">
      <dgm:prSet presAssocID="{B4F1B46E-22B2-4721-950C-8704487586DC}" presName="posSpace" presStyleCnt="0"/>
      <dgm:spPr/>
    </dgm:pt>
    <dgm:pt modelId="{FC66A233-6BBA-46AF-B2F6-28E379B158E2}" type="pres">
      <dgm:prSet presAssocID="{B4F1B46E-22B2-4721-950C-8704487586DC}" presName="vertFlow" presStyleCnt="0"/>
      <dgm:spPr/>
    </dgm:pt>
    <dgm:pt modelId="{46739A04-1AA3-49C6-8EA7-EB1DE975B900}" type="pres">
      <dgm:prSet presAssocID="{B4F1B46E-22B2-4721-950C-8704487586DC}" presName="topSpace" presStyleCnt="0"/>
      <dgm:spPr/>
    </dgm:pt>
    <dgm:pt modelId="{535C6EC9-8098-42C5-8527-E62FF045E4EB}" type="pres">
      <dgm:prSet presAssocID="{B4F1B46E-22B2-4721-950C-8704487586DC}" presName="firstComp" presStyleCnt="0"/>
      <dgm:spPr/>
    </dgm:pt>
    <dgm:pt modelId="{6B08AC4B-4CEC-41E5-AE19-47A4E2720563}" type="pres">
      <dgm:prSet presAssocID="{B4F1B46E-22B2-4721-950C-8704487586DC}" presName="firstChild" presStyleLbl="bgAccFollowNode1" presStyleIdx="0" presStyleCnt="11"/>
      <dgm:spPr/>
    </dgm:pt>
    <dgm:pt modelId="{187D4E8C-5C91-4D00-870C-2C45D4EA263C}" type="pres">
      <dgm:prSet presAssocID="{B4F1B46E-22B2-4721-950C-8704487586DC}" presName="firstChildTx" presStyleLbl="bgAccFollowNode1" presStyleIdx="0" presStyleCnt="11">
        <dgm:presLayoutVars>
          <dgm:bulletEnabled val="1"/>
        </dgm:presLayoutVars>
      </dgm:prSet>
      <dgm:spPr/>
    </dgm:pt>
    <dgm:pt modelId="{7673367E-3022-4333-97F1-A4AF17C6D485}" type="pres">
      <dgm:prSet presAssocID="{F166C826-86F6-4F61-BCB5-AA5379E696B0}" presName="comp" presStyleCnt="0"/>
      <dgm:spPr/>
    </dgm:pt>
    <dgm:pt modelId="{143226E8-B37C-4FCF-A4E4-D79A27B58C75}" type="pres">
      <dgm:prSet presAssocID="{F166C826-86F6-4F61-BCB5-AA5379E696B0}" presName="child" presStyleLbl="bgAccFollowNode1" presStyleIdx="1" presStyleCnt="11"/>
      <dgm:spPr/>
    </dgm:pt>
    <dgm:pt modelId="{D11D9590-FB15-4303-9BAE-690B1F1D3E1E}" type="pres">
      <dgm:prSet presAssocID="{F166C826-86F6-4F61-BCB5-AA5379E696B0}" presName="childTx" presStyleLbl="bgAccFollowNode1" presStyleIdx="1" presStyleCnt="11">
        <dgm:presLayoutVars>
          <dgm:bulletEnabled val="1"/>
        </dgm:presLayoutVars>
      </dgm:prSet>
      <dgm:spPr/>
    </dgm:pt>
    <dgm:pt modelId="{E50A9A83-9985-4184-A476-E3402BD8E76E}" type="pres">
      <dgm:prSet presAssocID="{7CB6360B-4022-4E96-922B-A12DE0E2A39F}" presName="comp" presStyleCnt="0"/>
      <dgm:spPr/>
    </dgm:pt>
    <dgm:pt modelId="{1877502C-A892-4DC0-ADA6-FA065097BB90}" type="pres">
      <dgm:prSet presAssocID="{7CB6360B-4022-4E96-922B-A12DE0E2A39F}" presName="child" presStyleLbl="bgAccFollowNode1" presStyleIdx="2" presStyleCnt="11"/>
      <dgm:spPr/>
    </dgm:pt>
    <dgm:pt modelId="{D685DD23-B321-4B5E-842F-394CB33239FA}" type="pres">
      <dgm:prSet presAssocID="{7CB6360B-4022-4E96-922B-A12DE0E2A39F}" presName="childTx" presStyleLbl="bgAccFollowNode1" presStyleIdx="2" presStyleCnt="11">
        <dgm:presLayoutVars>
          <dgm:bulletEnabled val="1"/>
        </dgm:presLayoutVars>
      </dgm:prSet>
      <dgm:spPr/>
    </dgm:pt>
    <dgm:pt modelId="{E5677DE7-299C-4C9C-A4BC-6335CC601D12}" type="pres">
      <dgm:prSet presAssocID="{70879558-61CA-4CCD-B2D6-5349B01EF337}" presName="comp" presStyleCnt="0"/>
      <dgm:spPr/>
    </dgm:pt>
    <dgm:pt modelId="{51F68A05-A560-4C6F-BC90-521AEF3B0907}" type="pres">
      <dgm:prSet presAssocID="{70879558-61CA-4CCD-B2D6-5349B01EF337}" presName="child" presStyleLbl="bgAccFollowNode1" presStyleIdx="3" presStyleCnt="11"/>
      <dgm:spPr/>
    </dgm:pt>
    <dgm:pt modelId="{3EBE42F0-6491-49CC-95DC-985BA00CD458}" type="pres">
      <dgm:prSet presAssocID="{70879558-61CA-4CCD-B2D6-5349B01EF337}" presName="childTx" presStyleLbl="bgAccFollowNode1" presStyleIdx="3" presStyleCnt="11">
        <dgm:presLayoutVars>
          <dgm:bulletEnabled val="1"/>
        </dgm:presLayoutVars>
      </dgm:prSet>
      <dgm:spPr/>
    </dgm:pt>
    <dgm:pt modelId="{3845DB9A-BEF3-4D5D-B9C7-5FC0456401AC}" type="pres">
      <dgm:prSet presAssocID="{B4F1B46E-22B2-4721-950C-8704487586DC}" presName="negSpace" presStyleCnt="0"/>
      <dgm:spPr/>
    </dgm:pt>
    <dgm:pt modelId="{FC7ED273-8CFD-43C2-9C05-44FADF3E0637}" type="pres">
      <dgm:prSet presAssocID="{B4F1B46E-22B2-4721-950C-8704487586DC}" presName="circle" presStyleLbl="node1" presStyleIdx="0" presStyleCnt="4"/>
      <dgm:spPr/>
    </dgm:pt>
    <dgm:pt modelId="{13C564B0-C27E-4ABA-AFDA-59E145B256BA}" type="pres">
      <dgm:prSet presAssocID="{A7E2530A-34E2-4E9F-BC78-8920BA140C41}" presName="transSpace" presStyleCnt="0"/>
      <dgm:spPr/>
    </dgm:pt>
    <dgm:pt modelId="{6300E233-87DF-4270-9808-160BFEB8A5BE}" type="pres">
      <dgm:prSet presAssocID="{F2881FB1-6580-4F21-A283-BFAA6F91D5D2}" presName="posSpace" presStyleCnt="0"/>
      <dgm:spPr/>
    </dgm:pt>
    <dgm:pt modelId="{6E53DEF7-499E-42EE-802D-59B2F8915392}" type="pres">
      <dgm:prSet presAssocID="{F2881FB1-6580-4F21-A283-BFAA6F91D5D2}" presName="vertFlow" presStyleCnt="0"/>
      <dgm:spPr/>
    </dgm:pt>
    <dgm:pt modelId="{E08C30D1-35EA-4D05-9731-5D01E3FCBD09}" type="pres">
      <dgm:prSet presAssocID="{F2881FB1-6580-4F21-A283-BFAA6F91D5D2}" presName="topSpace" presStyleCnt="0"/>
      <dgm:spPr/>
    </dgm:pt>
    <dgm:pt modelId="{2F3BD88A-9166-4A26-B941-B9BAEE1A11D5}" type="pres">
      <dgm:prSet presAssocID="{F2881FB1-6580-4F21-A283-BFAA6F91D5D2}" presName="firstComp" presStyleCnt="0"/>
      <dgm:spPr/>
    </dgm:pt>
    <dgm:pt modelId="{F660F4B9-35DB-4256-A868-A35C6DCCF6B2}" type="pres">
      <dgm:prSet presAssocID="{F2881FB1-6580-4F21-A283-BFAA6F91D5D2}" presName="firstChild" presStyleLbl="bgAccFollowNode1" presStyleIdx="4" presStyleCnt="11"/>
      <dgm:spPr/>
    </dgm:pt>
    <dgm:pt modelId="{10C9E3CF-3A8F-4100-8ACD-91E2373197A2}" type="pres">
      <dgm:prSet presAssocID="{F2881FB1-6580-4F21-A283-BFAA6F91D5D2}" presName="firstChildTx" presStyleLbl="bgAccFollowNode1" presStyleIdx="4" presStyleCnt="11">
        <dgm:presLayoutVars>
          <dgm:bulletEnabled val="1"/>
        </dgm:presLayoutVars>
      </dgm:prSet>
      <dgm:spPr/>
    </dgm:pt>
    <dgm:pt modelId="{60887C36-4733-46AC-A452-5444F6BC3B23}" type="pres">
      <dgm:prSet presAssocID="{29E78340-8EBE-415C-B973-78A91A054B9C}" presName="comp" presStyleCnt="0"/>
      <dgm:spPr/>
    </dgm:pt>
    <dgm:pt modelId="{614EBA0E-D12B-447E-B378-B0FA2DEBEA2F}" type="pres">
      <dgm:prSet presAssocID="{29E78340-8EBE-415C-B973-78A91A054B9C}" presName="child" presStyleLbl="bgAccFollowNode1" presStyleIdx="5" presStyleCnt="11"/>
      <dgm:spPr/>
    </dgm:pt>
    <dgm:pt modelId="{B12AEB83-0A64-4B36-BF01-B2F834861BAA}" type="pres">
      <dgm:prSet presAssocID="{29E78340-8EBE-415C-B973-78A91A054B9C}" presName="childTx" presStyleLbl="bgAccFollowNode1" presStyleIdx="5" presStyleCnt="11">
        <dgm:presLayoutVars>
          <dgm:bulletEnabled val="1"/>
        </dgm:presLayoutVars>
      </dgm:prSet>
      <dgm:spPr/>
    </dgm:pt>
    <dgm:pt modelId="{3055F178-D8CA-413A-99F2-20C8231C0651}" type="pres">
      <dgm:prSet presAssocID="{8321AB85-EA8C-4958-B404-B4C118CB3C18}" presName="comp" presStyleCnt="0"/>
      <dgm:spPr/>
    </dgm:pt>
    <dgm:pt modelId="{68509703-D239-4E1B-8CF0-EF08079E1226}" type="pres">
      <dgm:prSet presAssocID="{8321AB85-EA8C-4958-B404-B4C118CB3C18}" presName="child" presStyleLbl="bgAccFollowNode1" presStyleIdx="6" presStyleCnt="11" custLinFactNeighborX="1274"/>
      <dgm:spPr/>
    </dgm:pt>
    <dgm:pt modelId="{E1767793-EDD5-4203-A612-8120A71CA906}" type="pres">
      <dgm:prSet presAssocID="{8321AB85-EA8C-4958-B404-B4C118CB3C18}" presName="childTx" presStyleLbl="bgAccFollowNode1" presStyleIdx="6" presStyleCnt="11">
        <dgm:presLayoutVars>
          <dgm:bulletEnabled val="1"/>
        </dgm:presLayoutVars>
      </dgm:prSet>
      <dgm:spPr/>
    </dgm:pt>
    <dgm:pt modelId="{69136330-53DB-4978-A56B-160862279381}" type="pres">
      <dgm:prSet presAssocID="{F2881FB1-6580-4F21-A283-BFAA6F91D5D2}" presName="negSpace" presStyleCnt="0"/>
      <dgm:spPr/>
    </dgm:pt>
    <dgm:pt modelId="{FD776C1E-557E-4553-9447-49B69EEC7907}" type="pres">
      <dgm:prSet presAssocID="{F2881FB1-6580-4F21-A283-BFAA6F91D5D2}" presName="circle" presStyleLbl="node1" presStyleIdx="1" presStyleCnt="4"/>
      <dgm:spPr/>
    </dgm:pt>
    <dgm:pt modelId="{FC2522F1-14BB-4B37-B60E-2E8A7E8A6C30}" type="pres">
      <dgm:prSet presAssocID="{A5ABDC17-7AB5-4F0E-992A-F9343F5D74EB}" presName="transSpace" presStyleCnt="0"/>
      <dgm:spPr/>
    </dgm:pt>
    <dgm:pt modelId="{2C2F6211-85A7-47FE-9239-DE94DF41A263}" type="pres">
      <dgm:prSet presAssocID="{6352CA33-6755-44BE-808F-400DA4CF80A7}" presName="posSpace" presStyleCnt="0"/>
      <dgm:spPr/>
    </dgm:pt>
    <dgm:pt modelId="{7B0C2EAE-70CB-4160-863D-210C3C66D5FD}" type="pres">
      <dgm:prSet presAssocID="{6352CA33-6755-44BE-808F-400DA4CF80A7}" presName="vertFlow" presStyleCnt="0"/>
      <dgm:spPr/>
    </dgm:pt>
    <dgm:pt modelId="{5AF3752E-55A6-443C-AD35-C49DF50A4566}" type="pres">
      <dgm:prSet presAssocID="{6352CA33-6755-44BE-808F-400DA4CF80A7}" presName="topSpace" presStyleCnt="0"/>
      <dgm:spPr/>
    </dgm:pt>
    <dgm:pt modelId="{53567A66-F0E9-4EF8-ADA9-764BA36AA6A9}" type="pres">
      <dgm:prSet presAssocID="{6352CA33-6755-44BE-808F-400DA4CF80A7}" presName="firstComp" presStyleCnt="0"/>
      <dgm:spPr/>
    </dgm:pt>
    <dgm:pt modelId="{AD2806AC-6A03-4F05-9F4D-F72EA0E56FBF}" type="pres">
      <dgm:prSet presAssocID="{6352CA33-6755-44BE-808F-400DA4CF80A7}" presName="firstChild" presStyleLbl="bgAccFollowNode1" presStyleIdx="7" presStyleCnt="11"/>
      <dgm:spPr/>
    </dgm:pt>
    <dgm:pt modelId="{F8977219-728E-448F-AE8B-46B14F4F17DE}" type="pres">
      <dgm:prSet presAssocID="{6352CA33-6755-44BE-808F-400DA4CF80A7}" presName="firstChildTx" presStyleLbl="bgAccFollowNode1" presStyleIdx="7" presStyleCnt="11">
        <dgm:presLayoutVars>
          <dgm:bulletEnabled val="1"/>
        </dgm:presLayoutVars>
      </dgm:prSet>
      <dgm:spPr/>
    </dgm:pt>
    <dgm:pt modelId="{46A8623B-DC64-4ED6-B73D-98FEAB030508}" type="pres">
      <dgm:prSet presAssocID="{3D5CDB25-F8FA-444B-8D4A-1D29D0CBA282}" presName="comp" presStyleCnt="0"/>
      <dgm:spPr/>
    </dgm:pt>
    <dgm:pt modelId="{5314AADB-0AD3-4BAE-9F15-B0FE4F44C802}" type="pres">
      <dgm:prSet presAssocID="{3D5CDB25-F8FA-444B-8D4A-1D29D0CBA282}" presName="child" presStyleLbl="bgAccFollowNode1" presStyleIdx="8" presStyleCnt="11"/>
      <dgm:spPr/>
    </dgm:pt>
    <dgm:pt modelId="{96624143-7928-48E9-817F-BC4A07250C32}" type="pres">
      <dgm:prSet presAssocID="{3D5CDB25-F8FA-444B-8D4A-1D29D0CBA282}" presName="childTx" presStyleLbl="bgAccFollowNode1" presStyleIdx="8" presStyleCnt="11">
        <dgm:presLayoutVars>
          <dgm:bulletEnabled val="1"/>
        </dgm:presLayoutVars>
      </dgm:prSet>
      <dgm:spPr/>
    </dgm:pt>
    <dgm:pt modelId="{FBCC4E74-37C0-494F-ABC0-7D18132E1437}" type="pres">
      <dgm:prSet presAssocID="{6352CA33-6755-44BE-808F-400DA4CF80A7}" presName="negSpace" presStyleCnt="0"/>
      <dgm:spPr/>
    </dgm:pt>
    <dgm:pt modelId="{89E6DA6E-7A23-44BD-8A99-378091FF741D}" type="pres">
      <dgm:prSet presAssocID="{6352CA33-6755-44BE-808F-400DA4CF80A7}" presName="circle" presStyleLbl="node1" presStyleIdx="2" presStyleCnt="4"/>
      <dgm:spPr/>
    </dgm:pt>
    <dgm:pt modelId="{E966790E-26B5-4EB8-981F-1094BF4B7611}" type="pres">
      <dgm:prSet presAssocID="{AAB4CF73-4B9B-4AA0-9074-16C2D2AE00A1}" presName="transSpace" presStyleCnt="0"/>
      <dgm:spPr/>
    </dgm:pt>
    <dgm:pt modelId="{229B7655-E1F4-4CF5-84B8-30F0491D32B5}" type="pres">
      <dgm:prSet presAssocID="{7FCE83D9-631B-4420-BBFC-CA0AFA59F747}" presName="posSpace" presStyleCnt="0"/>
      <dgm:spPr/>
    </dgm:pt>
    <dgm:pt modelId="{F85FFCDF-8E5F-492B-B22D-55A08EACE783}" type="pres">
      <dgm:prSet presAssocID="{7FCE83D9-631B-4420-BBFC-CA0AFA59F747}" presName="vertFlow" presStyleCnt="0"/>
      <dgm:spPr/>
    </dgm:pt>
    <dgm:pt modelId="{600B3FB2-1315-4A84-8613-B445666BC7D2}" type="pres">
      <dgm:prSet presAssocID="{7FCE83D9-631B-4420-BBFC-CA0AFA59F747}" presName="topSpace" presStyleCnt="0"/>
      <dgm:spPr/>
    </dgm:pt>
    <dgm:pt modelId="{E47C73E9-FBEE-4370-9B3F-E04EB7C4023A}" type="pres">
      <dgm:prSet presAssocID="{7FCE83D9-631B-4420-BBFC-CA0AFA59F747}" presName="firstComp" presStyleCnt="0"/>
      <dgm:spPr/>
    </dgm:pt>
    <dgm:pt modelId="{402C2C77-A32C-4D99-9940-12535E1181F2}" type="pres">
      <dgm:prSet presAssocID="{7FCE83D9-631B-4420-BBFC-CA0AFA59F747}" presName="firstChild" presStyleLbl="bgAccFollowNode1" presStyleIdx="9" presStyleCnt="11"/>
      <dgm:spPr/>
    </dgm:pt>
    <dgm:pt modelId="{5B88A17E-EFF5-4A04-9CC9-D2131DA9ECCC}" type="pres">
      <dgm:prSet presAssocID="{7FCE83D9-631B-4420-BBFC-CA0AFA59F747}" presName="firstChildTx" presStyleLbl="bgAccFollowNode1" presStyleIdx="9" presStyleCnt="11">
        <dgm:presLayoutVars>
          <dgm:bulletEnabled val="1"/>
        </dgm:presLayoutVars>
      </dgm:prSet>
      <dgm:spPr/>
    </dgm:pt>
    <dgm:pt modelId="{F3C2D87B-A5E7-46E2-B3D3-58E6D9562663}" type="pres">
      <dgm:prSet presAssocID="{50451020-5E1A-4778-9E8D-169182A36191}" presName="comp" presStyleCnt="0"/>
      <dgm:spPr/>
    </dgm:pt>
    <dgm:pt modelId="{3086D0BF-AAD1-4310-88ED-4D81A687BD50}" type="pres">
      <dgm:prSet presAssocID="{50451020-5E1A-4778-9E8D-169182A36191}" presName="child" presStyleLbl="bgAccFollowNode1" presStyleIdx="10" presStyleCnt="11"/>
      <dgm:spPr/>
    </dgm:pt>
    <dgm:pt modelId="{2B18CCD9-D6B1-4225-8D26-4BA691BB1837}" type="pres">
      <dgm:prSet presAssocID="{50451020-5E1A-4778-9E8D-169182A36191}" presName="childTx" presStyleLbl="bgAccFollowNode1" presStyleIdx="10" presStyleCnt="11">
        <dgm:presLayoutVars>
          <dgm:bulletEnabled val="1"/>
        </dgm:presLayoutVars>
      </dgm:prSet>
      <dgm:spPr/>
    </dgm:pt>
    <dgm:pt modelId="{9051EF7D-7D6C-4B43-A6C4-239F9933C94D}" type="pres">
      <dgm:prSet presAssocID="{7FCE83D9-631B-4420-BBFC-CA0AFA59F747}" presName="negSpace" presStyleCnt="0"/>
      <dgm:spPr/>
    </dgm:pt>
    <dgm:pt modelId="{7453D9C8-CD6E-4AA4-8A19-7F6F667528F0}" type="pres">
      <dgm:prSet presAssocID="{7FCE83D9-631B-4420-BBFC-CA0AFA59F747}" presName="circle" presStyleLbl="node1" presStyleIdx="3" presStyleCnt="4"/>
      <dgm:spPr/>
    </dgm:pt>
  </dgm:ptLst>
  <dgm:cxnLst>
    <dgm:cxn modelId="{C5573701-DB23-4374-B33F-4CD23BC79FD2}" type="presOf" srcId="{DB9FB862-4759-4D6A-84F3-01524B92723B}" destId="{5B88A17E-EFF5-4A04-9CC9-D2131DA9ECCC}" srcOrd="1" destOrd="0" presId="urn:microsoft.com/office/officeart/2005/8/layout/hList9"/>
    <dgm:cxn modelId="{7F3B5912-CE3A-4F69-B6A0-82162798FA63}" type="presOf" srcId="{00C18FBF-3FF5-4C16-97CF-AF03740D7AB6}" destId="{0DC7A063-583D-4B0F-88B2-BD54F95D95AF}" srcOrd="0" destOrd="0" presId="urn:microsoft.com/office/officeart/2005/8/layout/hList9"/>
    <dgm:cxn modelId="{9E90FB1A-5413-4983-ADE6-09BC814399BF}" type="presOf" srcId="{F166C826-86F6-4F61-BCB5-AA5379E696B0}" destId="{D11D9590-FB15-4303-9BAE-690B1F1D3E1E}" srcOrd="1" destOrd="0" presId="urn:microsoft.com/office/officeart/2005/8/layout/hList9"/>
    <dgm:cxn modelId="{0AE67E1D-C07E-4329-9BD9-B2AB03FE696C}" srcId="{B4F1B46E-22B2-4721-950C-8704487586DC}" destId="{F166C826-86F6-4F61-BCB5-AA5379E696B0}" srcOrd="1" destOrd="0" parTransId="{1F6DC81C-749A-42B7-A5B1-105AF15B8B2C}" sibTransId="{7D90C543-FF0A-4D02-81DE-7FB26506ABDA}"/>
    <dgm:cxn modelId="{98B36E1E-4358-4AEA-AFBF-67D7051C38DC}" type="presOf" srcId="{29E78340-8EBE-415C-B973-78A91A054B9C}" destId="{614EBA0E-D12B-447E-B378-B0FA2DEBEA2F}" srcOrd="0" destOrd="0" presId="urn:microsoft.com/office/officeart/2005/8/layout/hList9"/>
    <dgm:cxn modelId="{4659692E-D8B4-438C-8413-09749AB2028E}" type="presOf" srcId="{8321AB85-EA8C-4958-B404-B4C118CB3C18}" destId="{68509703-D239-4E1B-8CF0-EF08079E1226}" srcOrd="0" destOrd="0" presId="urn:microsoft.com/office/officeart/2005/8/layout/hList9"/>
    <dgm:cxn modelId="{B7E99936-F16D-46C2-A4B0-BF34CF6ADB14}" type="presOf" srcId="{9614A323-64B1-4077-A841-022051EC749A}" destId="{AD2806AC-6A03-4F05-9F4D-F72EA0E56FBF}" srcOrd="0" destOrd="0" presId="urn:microsoft.com/office/officeart/2005/8/layout/hList9"/>
    <dgm:cxn modelId="{4A31D641-1B5D-46D3-B685-0C4DC6EFE71B}" srcId="{00C18FBF-3FF5-4C16-97CF-AF03740D7AB6}" destId="{F2881FB1-6580-4F21-A283-BFAA6F91D5D2}" srcOrd="1" destOrd="0" parTransId="{2D960FDD-BADA-480D-9043-497C56588AD3}" sibTransId="{A5ABDC17-7AB5-4F0E-992A-F9343F5D74EB}"/>
    <dgm:cxn modelId="{799E6E66-743F-4DAF-AE23-14AEBE14AA88}" type="presOf" srcId="{7FCE83D9-631B-4420-BBFC-CA0AFA59F747}" destId="{7453D9C8-CD6E-4AA4-8A19-7F6F667528F0}" srcOrd="0" destOrd="0" presId="urn:microsoft.com/office/officeart/2005/8/layout/hList9"/>
    <dgm:cxn modelId="{F1F83847-5761-4E8A-B6C9-C104EB7815F2}" type="presOf" srcId="{6352CA33-6755-44BE-808F-400DA4CF80A7}" destId="{89E6DA6E-7A23-44BD-8A99-378091FF741D}" srcOrd="0" destOrd="0" presId="urn:microsoft.com/office/officeart/2005/8/layout/hList9"/>
    <dgm:cxn modelId="{845A9D47-FE1F-4968-80AA-651D796D5901}" type="presOf" srcId="{70879558-61CA-4CCD-B2D6-5349B01EF337}" destId="{3EBE42F0-6491-49CC-95DC-985BA00CD458}" srcOrd="1" destOrd="0" presId="urn:microsoft.com/office/officeart/2005/8/layout/hList9"/>
    <dgm:cxn modelId="{8923C369-FE81-4326-A527-78CC94E6ED12}" type="presOf" srcId="{D5197DDB-D5D2-499F-B255-CF7BB5AE2B43}" destId="{F660F4B9-35DB-4256-A868-A35C6DCCF6B2}" srcOrd="0" destOrd="0" presId="urn:microsoft.com/office/officeart/2005/8/layout/hList9"/>
    <dgm:cxn modelId="{3FDB054B-674A-479A-B700-DD5158539F36}" type="presOf" srcId="{3D5CDB25-F8FA-444B-8D4A-1D29D0CBA282}" destId="{96624143-7928-48E9-817F-BC4A07250C32}" srcOrd="1" destOrd="0" presId="urn:microsoft.com/office/officeart/2005/8/layout/hList9"/>
    <dgm:cxn modelId="{4229094F-A526-44E9-B96A-2A843DE8AE98}" type="presOf" srcId="{7CB6360B-4022-4E96-922B-A12DE0E2A39F}" destId="{1877502C-A892-4DC0-ADA6-FA065097BB90}" srcOrd="0" destOrd="0" presId="urn:microsoft.com/office/officeart/2005/8/layout/hList9"/>
    <dgm:cxn modelId="{3204ED53-15A0-4643-A582-021A785F1BA2}" srcId="{F2881FB1-6580-4F21-A283-BFAA6F91D5D2}" destId="{D5197DDB-D5D2-499F-B255-CF7BB5AE2B43}" srcOrd="0" destOrd="0" parTransId="{B14A4DC9-F40A-4867-ADB8-4BA8A1F83766}" sibTransId="{29F2454A-2FA8-4B3A-AC63-4A0B9FD04A75}"/>
    <dgm:cxn modelId="{129AEA77-5D2A-49D4-956D-99009974B6C5}" srcId="{F2881FB1-6580-4F21-A283-BFAA6F91D5D2}" destId="{8321AB85-EA8C-4958-B404-B4C118CB3C18}" srcOrd="2" destOrd="0" parTransId="{24ABE8B3-7220-436D-9636-F7B4C0B99576}" sibTransId="{AA5F76CE-8FD4-4692-8BB1-EF84CF9D365E}"/>
    <dgm:cxn modelId="{8FAB4659-6291-457D-941A-93BCD304031A}" srcId="{B4F1B46E-22B2-4721-950C-8704487586DC}" destId="{70879558-61CA-4CCD-B2D6-5349B01EF337}" srcOrd="3" destOrd="0" parTransId="{95F5E6EE-4E8D-49F8-8C9E-8BBFD01B6A0E}" sibTransId="{053E317B-DD3F-4AFF-90D1-A55D37D325DC}"/>
    <dgm:cxn modelId="{4F9B6F81-7AE8-4281-94B2-85EE99C7D4DC}" type="presOf" srcId="{7CB6360B-4022-4E96-922B-A12DE0E2A39F}" destId="{D685DD23-B321-4B5E-842F-394CB33239FA}" srcOrd="1" destOrd="0" presId="urn:microsoft.com/office/officeart/2005/8/layout/hList9"/>
    <dgm:cxn modelId="{FC7BD086-74EA-4D6C-9657-E916D355F209}" srcId="{6352CA33-6755-44BE-808F-400DA4CF80A7}" destId="{9614A323-64B1-4077-A841-022051EC749A}" srcOrd="0" destOrd="0" parTransId="{E5F6BCBD-B84E-4018-BE9E-BF57FF3B4B36}" sibTransId="{FEC2A79F-8857-403A-A738-E8CE75C965E2}"/>
    <dgm:cxn modelId="{3F3DC28C-8534-42B0-9DCC-1F1C3110033E}" type="presOf" srcId="{D5197DDB-D5D2-499F-B255-CF7BB5AE2B43}" destId="{10C9E3CF-3A8F-4100-8ACD-91E2373197A2}" srcOrd="1" destOrd="0" presId="urn:microsoft.com/office/officeart/2005/8/layout/hList9"/>
    <dgm:cxn modelId="{E572418E-4340-4448-940D-253A2FA3B9B3}" srcId="{00C18FBF-3FF5-4C16-97CF-AF03740D7AB6}" destId="{7FCE83D9-631B-4420-BBFC-CA0AFA59F747}" srcOrd="3" destOrd="0" parTransId="{C61EC981-13FA-4710-B079-D35692EEB764}" sibTransId="{1B48A0DE-4031-4D45-86A1-94CDAF68824A}"/>
    <dgm:cxn modelId="{86117C8F-59DE-4E24-8C75-F40057142BEE}" type="presOf" srcId="{50451020-5E1A-4778-9E8D-169182A36191}" destId="{2B18CCD9-D6B1-4225-8D26-4BA691BB1837}" srcOrd="1" destOrd="0" presId="urn:microsoft.com/office/officeart/2005/8/layout/hList9"/>
    <dgm:cxn modelId="{DDB5AD9A-40B0-48EF-AF2C-8CCDA330F7FE}" srcId="{B4F1B46E-22B2-4721-950C-8704487586DC}" destId="{9D72CDD3-5859-43DB-BD75-0C3C30E3DE62}" srcOrd="0" destOrd="0" parTransId="{1D5B1F83-33A7-4298-BC11-2B1252AFAEA5}" sibTransId="{15E25BD4-1EBF-43C2-8885-DBF66B8429E1}"/>
    <dgm:cxn modelId="{51A9229F-29CF-4045-B77C-3CBD970F1434}" type="presOf" srcId="{F2881FB1-6580-4F21-A283-BFAA6F91D5D2}" destId="{FD776C1E-557E-4553-9447-49B69EEC7907}" srcOrd="0" destOrd="0" presId="urn:microsoft.com/office/officeart/2005/8/layout/hList9"/>
    <dgm:cxn modelId="{BD95B1AE-F9F7-40C1-AE36-3944DEF54C9F}" type="presOf" srcId="{9614A323-64B1-4077-A841-022051EC749A}" destId="{F8977219-728E-448F-AE8B-46B14F4F17DE}" srcOrd="1" destOrd="0" presId="urn:microsoft.com/office/officeart/2005/8/layout/hList9"/>
    <dgm:cxn modelId="{2C8317B2-2EBB-4589-86EA-C77B3B6E81AA}" srcId="{00C18FBF-3FF5-4C16-97CF-AF03740D7AB6}" destId="{B4F1B46E-22B2-4721-950C-8704487586DC}" srcOrd="0" destOrd="0" parTransId="{E8A66543-CC4D-4785-A93E-5B125E09F826}" sibTransId="{A7E2530A-34E2-4E9F-BC78-8920BA140C41}"/>
    <dgm:cxn modelId="{CD5EFFB3-C9FD-4DAC-8D97-0C2FB02B380B}" srcId="{B4F1B46E-22B2-4721-950C-8704487586DC}" destId="{7CB6360B-4022-4E96-922B-A12DE0E2A39F}" srcOrd="2" destOrd="0" parTransId="{44B2858F-607B-47DF-B44B-EA7D73FDC9F2}" sibTransId="{B35ED9D1-2A17-4034-8D08-4945CA54F6C9}"/>
    <dgm:cxn modelId="{5E3327C1-2B6F-47AE-A671-F46CF3D866F2}" type="presOf" srcId="{B4F1B46E-22B2-4721-950C-8704487586DC}" destId="{FC7ED273-8CFD-43C2-9C05-44FADF3E0637}" srcOrd="0" destOrd="0" presId="urn:microsoft.com/office/officeart/2005/8/layout/hList9"/>
    <dgm:cxn modelId="{BA4AF5C4-D14F-4B9C-BD54-0DA6301B58F6}" type="presOf" srcId="{29E78340-8EBE-415C-B973-78A91A054B9C}" destId="{B12AEB83-0A64-4B36-BF01-B2F834861BAA}" srcOrd="1" destOrd="0" presId="urn:microsoft.com/office/officeart/2005/8/layout/hList9"/>
    <dgm:cxn modelId="{7F32DDCC-F309-4E80-B7EF-B2C7E4D7D9A0}" type="presOf" srcId="{3D5CDB25-F8FA-444B-8D4A-1D29D0CBA282}" destId="{5314AADB-0AD3-4BAE-9F15-B0FE4F44C802}" srcOrd="0" destOrd="0" presId="urn:microsoft.com/office/officeart/2005/8/layout/hList9"/>
    <dgm:cxn modelId="{311348D8-FDE3-4C22-99F5-3B98C5F51F0D}" srcId="{F2881FB1-6580-4F21-A283-BFAA6F91D5D2}" destId="{29E78340-8EBE-415C-B973-78A91A054B9C}" srcOrd="1" destOrd="0" parTransId="{FF4E5F97-6974-4E39-A85D-DCB2E100798E}" sibTransId="{B4B9A51E-FA34-465E-B5B4-81CD76EB3FC2}"/>
    <dgm:cxn modelId="{0F86DBDB-3C4F-4C84-981B-7F4CA2A8EAF3}" srcId="{7FCE83D9-631B-4420-BBFC-CA0AFA59F747}" destId="{50451020-5E1A-4778-9E8D-169182A36191}" srcOrd="1" destOrd="0" parTransId="{7DFC3849-4A12-49FB-B614-8AFD597CCB9E}" sibTransId="{EEDE2474-4F18-4F59-8E58-6382D253E514}"/>
    <dgm:cxn modelId="{0D6DF6DC-8673-420E-BC61-AAEDE9F7D5B0}" type="presOf" srcId="{70879558-61CA-4CCD-B2D6-5349B01EF337}" destId="{51F68A05-A560-4C6F-BC90-521AEF3B0907}" srcOrd="0" destOrd="0" presId="urn:microsoft.com/office/officeart/2005/8/layout/hList9"/>
    <dgm:cxn modelId="{9C85DEDD-549E-472F-A512-90676CAC2383}" type="presOf" srcId="{9D72CDD3-5859-43DB-BD75-0C3C30E3DE62}" destId="{187D4E8C-5C91-4D00-870C-2C45D4EA263C}" srcOrd="1" destOrd="0" presId="urn:microsoft.com/office/officeart/2005/8/layout/hList9"/>
    <dgm:cxn modelId="{82BAE5DD-3A79-4870-9019-1254385E0650}" srcId="{00C18FBF-3FF5-4C16-97CF-AF03740D7AB6}" destId="{6352CA33-6755-44BE-808F-400DA4CF80A7}" srcOrd="2" destOrd="0" parTransId="{AEB59203-63BA-4A96-BADC-40BAEBD9AA40}" sibTransId="{AAB4CF73-4B9B-4AA0-9074-16C2D2AE00A1}"/>
    <dgm:cxn modelId="{352034E2-4C9F-493C-AE68-245630AA6237}" type="presOf" srcId="{50451020-5E1A-4778-9E8D-169182A36191}" destId="{3086D0BF-AAD1-4310-88ED-4D81A687BD50}" srcOrd="0" destOrd="0" presId="urn:microsoft.com/office/officeart/2005/8/layout/hList9"/>
    <dgm:cxn modelId="{2E3C97E6-67D4-4948-B47A-1115C2B2979F}" srcId="{6352CA33-6755-44BE-808F-400DA4CF80A7}" destId="{3D5CDB25-F8FA-444B-8D4A-1D29D0CBA282}" srcOrd="1" destOrd="0" parTransId="{4C229933-AC16-44B7-98EC-4C0F07FABCB0}" sibTransId="{189DA4C5-2A22-4C71-A806-7B4AB57767CC}"/>
    <dgm:cxn modelId="{511943E7-C5F1-4574-A3EA-B5AA41D9FF9D}" type="presOf" srcId="{9D72CDD3-5859-43DB-BD75-0C3C30E3DE62}" destId="{6B08AC4B-4CEC-41E5-AE19-47A4E2720563}" srcOrd="0" destOrd="0" presId="urn:microsoft.com/office/officeart/2005/8/layout/hList9"/>
    <dgm:cxn modelId="{2930A6F2-B6A1-4B19-B126-2381E9B4C013}" type="presOf" srcId="{8321AB85-EA8C-4958-B404-B4C118CB3C18}" destId="{E1767793-EDD5-4203-A612-8120A71CA906}" srcOrd="1" destOrd="0" presId="urn:microsoft.com/office/officeart/2005/8/layout/hList9"/>
    <dgm:cxn modelId="{87D7CAF6-6C7A-4522-B928-C5CBD6D5F11C}" type="presOf" srcId="{DB9FB862-4759-4D6A-84F3-01524B92723B}" destId="{402C2C77-A32C-4D99-9940-12535E1181F2}" srcOrd="0" destOrd="0" presId="urn:microsoft.com/office/officeart/2005/8/layout/hList9"/>
    <dgm:cxn modelId="{AD6E67FA-A0A4-4123-BC81-8851360AD0C3}" type="presOf" srcId="{F166C826-86F6-4F61-BCB5-AA5379E696B0}" destId="{143226E8-B37C-4FCF-A4E4-D79A27B58C75}" srcOrd="0" destOrd="0" presId="urn:microsoft.com/office/officeart/2005/8/layout/hList9"/>
    <dgm:cxn modelId="{70CAB4FC-3D17-49C2-8A7B-F387031FCDCA}" srcId="{7FCE83D9-631B-4420-BBFC-CA0AFA59F747}" destId="{DB9FB862-4759-4D6A-84F3-01524B92723B}" srcOrd="0" destOrd="0" parTransId="{CD1EE44C-3116-420B-89E3-1D797CB25D34}" sibTransId="{4BD4D4A5-043E-4ED5-A5CA-8D46DADC3150}"/>
    <dgm:cxn modelId="{E7F6F07E-8E34-467C-96D4-572A49509E75}" type="presParOf" srcId="{0DC7A063-583D-4B0F-88B2-BD54F95D95AF}" destId="{3B23570A-ECC9-4DF8-BCB4-0465C69CBB88}" srcOrd="0" destOrd="0" presId="urn:microsoft.com/office/officeart/2005/8/layout/hList9"/>
    <dgm:cxn modelId="{C77E8A88-94E6-436C-A58B-1030CDBF47A6}" type="presParOf" srcId="{0DC7A063-583D-4B0F-88B2-BD54F95D95AF}" destId="{FC66A233-6BBA-46AF-B2F6-28E379B158E2}" srcOrd="1" destOrd="0" presId="urn:microsoft.com/office/officeart/2005/8/layout/hList9"/>
    <dgm:cxn modelId="{A6CEEDA9-D6B4-461D-A31D-28AADA87D47D}" type="presParOf" srcId="{FC66A233-6BBA-46AF-B2F6-28E379B158E2}" destId="{46739A04-1AA3-49C6-8EA7-EB1DE975B900}" srcOrd="0" destOrd="0" presId="urn:microsoft.com/office/officeart/2005/8/layout/hList9"/>
    <dgm:cxn modelId="{70C76E00-F705-45B3-878D-2ACDD2319EBC}" type="presParOf" srcId="{FC66A233-6BBA-46AF-B2F6-28E379B158E2}" destId="{535C6EC9-8098-42C5-8527-E62FF045E4EB}" srcOrd="1" destOrd="0" presId="urn:microsoft.com/office/officeart/2005/8/layout/hList9"/>
    <dgm:cxn modelId="{84CC1752-437C-4F20-B243-6FBE78408E7C}" type="presParOf" srcId="{535C6EC9-8098-42C5-8527-E62FF045E4EB}" destId="{6B08AC4B-4CEC-41E5-AE19-47A4E2720563}" srcOrd="0" destOrd="0" presId="urn:microsoft.com/office/officeart/2005/8/layout/hList9"/>
    <dgm:cxn modelId="{91DAB890-973C-4E39-886E-0C799758834F}" type="presParOf" srcId="{535C6EC9-8098-42C5-8527-E62FF045E4EB}" destId="{187D4E8C-5C91-4D00-870C-2C45D4EA263C}" srcOrd="1" destOrd="0" presId="urn:microsoft.com/office/officeart/2005/8/layout/hList9"/>
    <dgm:cxn modelId="{65AA693B-0434-418D-9B1B-99D0FE90BD39}" type="presParOf" srcId="{FC66A233-6BBA-46AF-B2F6-28E379B158E2}" destId="{7673367E-3022-4333-97F1-A4AF17C6D485}" srcOrd="2" destOrd="0" presId="urn:microsoft.com/office/officeart/2005/8/layout/hList9"/>
    <dgm:cxn modelId="{C58B6D18-114A-4994-BA3D-FB29E2545472}" type="presParOf" srcId="{7673367E-3022-4333-97F1-A4AF17C6D485}" destId="{143226E8-B37C-4FCF-A4E4-D79A27B58C75}" srcOrd="0" destOrd="0" presId="urn:microsoft.com/office/officeart/2005/8/layout/hList9"/>
    <dgm:cxn modelId="{6CB86FEE-56C1-4495-8826-444D6F347473}" type="presParOf" srcId="{7673367E-3022-4333-97F1-A4AF17C6D485}" destId="{D11D9590-FB15-4303-9BAE-690B1F1D3E1E}" srcOrd="1" destOrd="0" presId="urn:microsoft.com/office/officeart/2005/8/layout/hList9"/>
    <dgm:cxn modelId="{19BA9F06-A386-4A24-9B44-618A800EC417}" type="presParOf" srcId="{FC66A233-6BBA-46AF-B2F6-28E379B158E2}" destId="{E50A9A83-9985-4184-A476-E3402BD8E76E}" srcOrd="3" destOrd="0" presId="urn:microsoft.com/office/officeart/2005/8/layout/hList9"/>
    <dgm:cxn modelId="{8F600207-CA8C-4ECB-9BC0-BFC91F2944F0}" type="presParOf" srcId="{E50A9A83-9985-4184-A476-E3402BD8E76E}" destId="{1877502C-A892-4DC0-ADA6-FA065097BB90}" srcOrd="0" destOrd="0" presId="urn:microsoft.com/office/officeart/2005/8/layout/hList9"/>
    <dgm:cxn modelId="{A23F40EA-07BF-43A0-95E8-A523CCCFF549}" type="presParOf" srcId="{E50A9A83-9985-4184-A476-E3402BD8E76E}" destId="{D685DD23-B321-4B5E-842F-394CB33239FA}" srcOrd="1" destOrd="0" presId="urn:microsoft.com/office/officeart/2005/8/layout/hList9"/>
    <dgm:cxn modelId="{2BE3138A-5635-4B49-A534-3AE60C41AC99}" type="presParOf" srcId="{FC66A233-6BBA-46AF-B2F6-28E379B158E2}" destId="{E5677DE7-299C-4C9C-A4BC-6335CC601D12}" srcOrd="4" destOrd="0" presId="urn:microsoft.com/office/officeart/2005/8/layout/hList9"/>
    <dgm:cxn modelId="{B014894C-8F3C-4FF7-B540-3F29B313577D}" type="presParOf" srcId="{E5677DE7-299C-4C9C-A4BC-6335CC601D12}" destId="{51F68A05-A560-4C6F-BC90-521AEF3B0907}" srcOrd="0" destOrd="0" presId="urn:microsoft.com/office/officeart/2005/8/layout/hList9"/>
    <dgm:cxn modelId="{870D647C-F3E3-4AF8-8E82-5B2B472A61E9}" type="presParOf" srcId="{E5677DE7-299C-4C9C-A4BC-6335CC601D12}" destId="{3EBE42F0-6491-49CC-95DC-985BA00CD458}" srcOrd="1" destOrd="0" presId="urn:microsoft.com/office/officeart/2005/8/layout/hList9"/>
    <dgm:cxn modelId="{D40E8ED3-E651-48A5-827F-5037BC60049F}" type="presParOf" srcId="{0DC7A063-583D-4B0F-88B2-BD54F95D95AF}" destId="{3845DB9A-BEF3-4D5D-B9C7-5FC0456401AC}" srcOrd="2" destOrd="0" presId="urn:microsoft.com/office/officeart/2005/8/layout/hList9"/>
    <dgm:cxn modelId="{2BC6B767-7643-4759-8499-4B626742E43B}" type="presParOf" srcId="{0DC7A063-583D-4B0F-88B2-BD54F95D95AF}" destId="{FC7ED273-8CFD-43C2-9C05-44FADF3E0637}" srcOrd="3" destOrd="0" presId="urn:microsoft.com/office/officeart/2005/8/layout/hList9"/>
    <dgm:cxn modelId="{E75ACB0C-E4D2-4816-B3C0-1002860D5789}" type="presParOf" srcId="{0DC7A063-583D-4B0F-88B2-BD54F95D95AF}" destId="{13C564B0-C27E-4ABA-AFDA-59E145B256BA}" srcOrd="4" destOrd="0" presId="urn:microsoft.com/office/officeart/2005/8/layout/hList9"/>
    <dgm:cxn modelId="{5A247798-F194-4E2E-B181-4F5B605E242F}" type="presParOf" srcId="{0DC7A063-583D-4B0F-88B2-BD54F95D95AF}" destId="{6300E233-87DF-4270-9808-160BFEB8A5BE}" srcOrd="5" destOrd="0" presId="urn:microsoft.com/office/officeart/2005/8/layout/hList9"/>
    <dgm:cxn modelId="{230AE355-3317-4B26-98CC-F72B9078B5F3}" type="presParOf" srcId="{0DC7A063-583D-4B0F-88B2-BD54F95D95AF}" destId="{6E53DEF7-499E-42EE-802D-59B2F8915392}" srcOrd="6" destOrd="0" presId="urn:microsoft.com/office/officeart/2005/8/layout/hList9"/>
    <dgm:cxn modelId="{BDADB178-7170-4C50-8103-6931778BD3EB}" type="presParOf" srcId="{6E53DEF7-499E-42EE-802D-59B2F8915392}" destId="{E08C30D1-35EA-4D05-9731-5D01E3FCBD09}" srcOrd="0" destOrd="0" presId="urn:microsoft.com/office/officeart/2005/8/layout/hList9"/>
    <dgm:cxn modelId="{D2ED9F61-5439-45C2-B737-463AE6CAEE8C}" type="presParOf" srcId="{6E53DEF7-499E-42EE-802D-59B2F8915392}" destId="{2F3BD88A-9166-4A26-B941-B9BAEE1A11D5}" srcOrd="1" destOrd="0" presId="urn:microsoft.com/office/officeart/2005/8/layout/hList9"/>
    <dgm:cxn modelId="{5E0F2FFE-DB1A-49B9-A3D7-8472B9233CFF}" type="presParOf" srcId="{2F3BD88A-9166-4A26-B941-B9BAEE1A11D5}" destId="{F660F4B9-35DB-4256-A868-A35C6DCCF6B2}" srcOrd="0" destOrd="0" presId="urn:microsoft.com/office/officeart/2005/8/layout/hList9"/>
    <dgm:cxn modelId="{97377EB3-341D-4E1E-ADC3-4EE77D63F225}" type="presParOf" srcId="{2F3BD88A-9166-4A26-B941-B9BAEE1A11D5}" destId="{10C9E3CF-3A8F-4100-8ACD-91E2373197A2}" srcOrd="1" destOrd="0" presId="urn:microsoft.com/office/officeart/2005/8/layout/hList9"/>
    <dgm:cxn modelId="{B3592A49-A71E-4863-A128-1EF5275FC6F7}" type="presParOf" srcId="{6E53DEF7-499E-42EE-802D-59B2F8915392}" destId="{60887C36-4733-46AC-A452-5444F6BC3B23}" srcOrd="2" destOrd="0" presId="urn:microsoft.com/office/officeart/2005/8/layout/hList9"/>
    <dgm:cxn modelId="{C9DB5017-423C-4E09-959E-5D7565BE07A9}" type="presParOf" srcId="{60887C36-4733-46AC-A452-5444F6BC3B23}" destId="{614EBA0E-D12B-447E-B378-B0FA2DEBEA2F}" srcOrd="0" destOrd="0" presId="urn:microsoft.com/office/officeart/2005/8/layout/hList9"/>
    <dgm:cxn modelId="{F0A21CE9-17EA-4670-A4B3-8166148E8278}" type="presParOf" srcId="{60887C36-4733-46AC-A452-5444F6BC3B23}" destId="{B12AEB83-0A64-4B36-BF01-B2F834861BAA}" srcOrd="1" destOrd="0" presId="urn:microsoft.com/office/officeart/2005/8/layout/hList9"/>
    <dgm:cxn modelId="{52165F0D-33DB-43DD-A8E6-23B7B1036EC2}" type="presParOf" srcId="{6E53DEF7-499E-42EE-802D-59B2F8915392}" destId="{3055F178-D8CA-413A-99F2-20C8231C0651}" srcOrd="3" destOrd="0" presId="urn:microsoft.com/office/officeart/2005/8/layout/hList9"/>
    <dgm:cxn modelId="{BBC82BC5-D166-4295-806C-8069E5895DEF}" type="presParOf" srcId="{3055F178-D8CA-413A-99F2-20C8231C0651}" destId="{68509703-D239-4E1B-8CF0-EF08079E1226}" srcOrd="0" destOrd="0" presId="urn:microsoft.com/office/officeart/2005/8/layout/hList9"/>
    <dgm:cxn modelId="{E939971E-DCCD-4364-A8E1-DEAF659EE92C}" type="presParOf" srcId="{3055F178-D8CA-413A-99F2-20C8231C0651}" destId="{E1767793-EDD5-4203-A612-8120A71CA906}" srcOrd="1" destOrd="0" presId="urn:microsoft.com/office/officeart/2005/8/layout/hList9"/>
    <dgm:cxn modelId="{B1F8E348-81E0-489C-8CDC-2A28B3552FF0}" type="presParOf" srcId="{0DC7A063-583D-4B0F-88B2-BD54F95D95AF}" destId="{69136330-53DB-4978-A56B-160862279381}" srcOrd="7" destOrd="0" presId="urn:microsoft.com/office/officeart/2005/8/layout/hList9"/>
    <dgm:cxn modelId="{A52BFC1E-F554-4693-B57B-8EDD4316AE1F}" type="presParOf" srcId="{0DC7A063-583D-4B0F-88B2-BD54F95D95AF}" destId="{FD776C1E-557E-4553-9447-49B69EEC7907}" srcOrd="8" destOrd="0" presId="urn:microsoft.com/office/officeart/2005/8/layout/hList9"/>
    <dgm:cxn modelId="{48105527-1B79-4B85-8409-316EBEBAC530}" type="presParOf" srcId="{0DC7A063-583D-4B0F-88B2-BD54F95D95AF}" destId="{FC2522F1-14BB-4B37-B60E-2E8A7E8A6C30}" srcOrd="9" destOrd="0" presId="urn:microsoft.com/office/officeart/2005/8/layout/hList9"/>
    <dgm:cxn modelId="{30C5E82E-95DF-44BD-A039-DF1DCF11F8B5}" type="presParOf" srcId="{0DC7A063-583D-4B0F-88B2-BD54F95D95AF}" destId="{2C2F6211-85A7-47FE-9239-DE94DF41A263}" srcOrd="10" destOrd="0" presId="urn:microsoft.com/office/officeart/2005/8/layout/hList9"/>
    <dgm:cxn modelId="{5EDC225B-6EC8-4856-B81E-7CFE8F2842EF}" type="presParOf" srcId="{0DC7A063-583D-4B0F-88B2-BD54F95D95AF}" destId="{7B0C2EAE-70CB-4160-863D-210C3C66D5FD}" srcOrd="11" destOrd="0" presId="urn:microsoft.com/office/officeart/2005/8/layout/hList9"/>
    <dgm:cxn modelId="{6221A922-FB92-4C70-8B91-9DE30869DAC5}" type="presParOf" srcId="{7B0C2EAE-70CB-4160-863D-210C3C66D5FD}" destId="{5AF3752E-55A6-443C-AD35-C49DF50A4566}" srcOrd="0" destOrd="0" presId="urn:microsoft.com/office/officeart/2005/8/layout/hList9"/>
    <dgm:cxn modelId="{1BD28F8D-5E8D-4F01-B264-B3C6D17B3A19}" type="presParOf" srcId="{7B0C2EAE-70CB-4160-863D-210C3C66D5FD}" destId="{53567A66-F0E9-4EF8-ADA9-764BA36AA6A9}" srcOrd="1" destOrd="0" presId="urn:microsoft.com/office/officeart/2005/8/layout/hList9"/>
    <dgm:cxn modelId="{367705C4-E4CB-4403-9785-2FBD51D93A13}" type="presParOf" srcId="{53567A66-F0E9-4EF8-ADA9-764BA36AA6A9}" destId="{AD2806AC-6A03-4F05-9F4D-F72EA0E56FBF}" srcOrd="0" destOrd="0" presId="urn:microsoft.com/office/officeart/2005/8/layout/hList9"/>
    <dgm:cxn modelId="{575FA391-ECA0-4E0C-B9BD-E42C912BBDA1}" type="presParOf" srcId="{53567A66-F0E9-4EF8-ADA9-764BA36AA6A9}" destId="{F8977219-728E-448F-AE8B-46B14F4F17DE}" srcOrd="1" destOrd="0" presId="urn:microsoft.com/office/officeart/2005/8/layout/hList9"/>
    <dgm:cxn modelId="{975589D1-408F-44BB-8F28-8591C3DCA002}" type="presParOf" srcId="{7B0C2EAE-70CB-4160-863D-210C3C66D5FD}" destId="{46A8623B-DC64-4ED6-B73D-98FEAB030508}" srcOrd="2" destOrd="0" presId="urn:microsoft.com/office/officeart/2005/8/layout/hList9"/>
    <dgm:cxn modelId="{A741200D-74F9-4A76-9EEF-F5A009A09BB5}" type="presParOf" srcId="{46A8623B-DC64-4ED6-B73D-98FEAB030508}" destId="{5314AADB-0AD3-4BAE-9F15-B0FE4F44C802}" srcOrd="0" destOrd="0" presId="urn:microsoft.com/office/officeart/2005/8/layout/hList9"/>
    <dgm:cxn modelId="{17580EFD-F1BF-4F63-BAAE-8B895A78DD5D}" type="presParOf" srcId="{46A8623B-DC64-4ED6-B73D-98FEAB030508}" destId="{96624143-7928-48E9-817F-BC4A07250C32}" srcOrd="1" destOrd="0" presId="urn:microsoft.com/office/officeart/2005/8/layout/hList9"/>
    <dgm:cxn modelId="{2AB63810-0725-42E8-BF99-056C1A614C57}" type="presParOf" srcId="{0DC7A063-583D-4B0F-88B2-BD54F95D95AF}" destId="{FBCC4E74-37C0-494F-ABC0-7D18132E1437}" srcOrd="12" destOrd="0" presId="urn:microsoft.com/office/officeart/2005/8/layout/hList9"/>
    <dgm:cxn modelId="{E4FAEE96-988E-407A-8984-900D8B0AA0B5}" type="presParOf" srcId="{0DC7A063-583D-4B0F-88B2-BD54F95D95AF}" destId="{89E6DA6E-7A23-44BD-8A99-378091FF741D}" srcOrd="13" destOrd="0" presId="urn:microsoft.com/office/officeart/2005/8/layout/hList9"/>
    <dgm:cxn modelId="{E58777BE-1199-4E2D-80DE-045AD9DD8C70}" type="presParOf" srcId="{0DC7A063-583D-4B0F-88B2-BD54F95D95AF}" destId="{E966790E-26B5-4EB8-981F-1094BF4B7611}" srcOrd="14" destOrd="0" presId="urn:microsoft.com/office/officeart/2005/8/layout/hList9"/>
    <dgm:cxn modelId="{E6A2090F-5C98-425E-B9F4-5400C0A3FB49}" type="presParOf" srcId="{0DC7A063-583D-4B0F-88B2-BD54F95D95AF}" destId="{229B7655-E1F4-4CF5-84B8-30F0491D32B5}" srcOrd="15" destOrd="0" presId="urn:microsoft.com/office/officeart/2005/8/layout/hList9"/>
    <dgm:cxn modelId="{05EC49E2-9ECF-455E-B6B0-9635ABF07610}" type="presParOf" srcId="{0DC7A063-583D-4B0F-88B2-BD54F95D95AF}" destId="{F85FFCDF-8E5F-492B-B22D-55A08EACE783}" srcOrd="16" destOrd="0" presId="urn:microsoft.com/office/officeart/2005/8/layout/hList9"/>
    <dgm:cxn modelId="{33983F9A-916F-4D87-9C46-BE8209BF5FC0}" type="presParOf" srcId="{F85FFCDF-8E5F-492B-B22D-55A08EACE783}" destId="{600B3FB2-1315-4A84-8613-B445666BC7D2}" srcOrd="0" destOrd="0" presId="urn:microsoft.com/office/officeart/2005/8/layout/hList9"/>
    <dgm:cxn modelId="{61505D1E-BEF1-413C-B40C-53C33053FBB4}" type="presParOf" srcId="{F85FFCDF-8E5F-492B-B22D-55A08EACE783}" destId="{E47C73E9-FBEE-4370-9B3F-E04EB7C4023A}" srcOrd="1" destOrd="0" presId="urn:microsoft.com/office/officeart/2005/8/layout/hList9"/>
    <dgm:cxn modelId="{5A42BDBC-4465-45E2-A065-72BA15F111F6}" type="presParOf" srcId="{E47C73E9-FBEE-4370-9B3F-E04EB7C4023A}" destId="{402C2C77-A32C-4D99-9940-12535E1181F2}" srcOrd="0" destOrd="0" presId="urn:microsoft.com/office/officeart/2005/8/layout/hList9"/>
    <dgm:cxn modelId="{F93AF531-AB80-4843-8244-CABE42B99B2E}" type="presParOf" srcId="{E47C73E9-FBEE-4370-9B3F-E04EB7C4023A}" destId="{5B88A17E-EFF5-4A04-9CC9-D2131DA9ECCC}" srcOrd="1" destOrd="0" presId="urn:microsoft.com/office/officeart/2005/8/layout/hList9"/>
    <dgm:cxn modelId="{DA03D29C-6028-45A8-9392-6CC650BEB116}" type="presParOf" srcId="{F85FFCDF-8E5F-492B-B22D-55A08EACE783}" destId="{F3C2D87B-A5E7-46E2-B3D3-58E6D9562663}" srcOrd="2" destOrd="0" presId="urn:microsoft.com/office/officeart/2005/8/layout/hList9"/>
    <dgm:cxn modelId="{625513E3-B981-4E82-AE5A-14239470197E}" type="presParOf" srcId="{F3C2D87B-A5E7-46E2-B3D3-58E6D9562663}" destId="{3086D0BF-AAD1-4310-88ED-4D81A687BD50}" srcOrd="0" destOrd="0" presId="urn:microsoft.com/office/officeart/2005/8/layout/hList9"/>
    <dgm:cxn modelId="{A09ED902-BC80-4CF7-82B0-64ED7300D400}" type="presParOf" srcId="{F3C2D87B-A5E7-46E2-B3D3-58E6D9562663}" destId="{2B18CCD9-D6B1-4225-8D26-4BA691BB1837}" srcOrd="1" destOrd="0" presId="urn:microsoft.com/office/officeart/2005/8/layout/hList9"/>
    <dgm:cxn modelId="{A990A476-EF64-4499-A0AB-B3D76F0CAA78}" type="presParOf" srcId="{0DC7A063-583D-4B0F-88B2-BD54F95D95AF}" destId="{9051EF7D-7D6C-4B43-A6C4-239F9933C94D}" srcOrd="17" destOrd="0" presId="urn:microsoft.com/office/officeart/2005/8/layout/hList9"/>
    <dgm:cxn modelId="{012ED23D-B1DA-4F77-A980-DF7E73AD8F97}" type="presParOf" srcId="{0DC7A063-583D-4B0F-88B2-BD54F95D95AF}" destId="{7453D9C8-CD6E-4AA4-8A19-7F6F667528F0}" srcOrd="18" destOrd="0" presId="urn:microsoft.com/office/officeart/2005/8/layout/hList9"/>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08AC4B-4CEC-41E5-AE19-47A4E2720563}">
      <dsp:nvSpPr>
        <dsp:cNvPr id="0" name=""/>
        <dsp:cNvSpPr/>
      </dsp:nvSpPr>
      <dsp:spPr>
        <a:xfrm>
          <a:off x="1023388" y="629972"/>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Literature Review</a:t>
          </a:r>
        </a:p>
      </dsp:txBody>
      <dsp:txXfrm>
        <a:off x="1328350" y="629972"/>
        <a:ext cx="1601051" cy="1271311"/>
      </dsp:txXfrm>
    </dsp:sp>
    <dsp:sp modelId="{143226E8-B37C-4FCF-A4E4-D79A27B58C75}">
      <dsp:nvSpPr>
        <dsp:cNvPr id="0" name=""/>
        <dsp:cNvSpPr/>
      </dsp:nvSpPr>
      <dsp:spPr>
        <a:xfrm>
          <a:off x="1023388" y="1901283"/>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Literature gap</a:t>
          </a:r>
        </a:p>
      </dsp:txBody>
      <dsp:txXfrm>
        <a:off x="1328350" y="1901283"/>
        <a:ext cx="1601051" cy="1271311"/>
      </dsp:txXfrm>
    </dsp:sp>
    <dsp:sp modelId="{1877502C-A892-4DC0-ADA6-FA065097BB90}">
      <dsp:nvSpPr>
        <dsp:cNvPr id="0" name=""/>
        <dsp:cNvSpPr/>
      </dsp:nvSpPr>
      <dsp:spPr>
        <a:xfrm>
          <a:off x="1023388" y="3172595"/>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Problem identification</a:t>
          </a:r>
        </a:p>
      </dsp:txBody>
      <dsp:txXfrm>
        <a:off x="1328350" y="3172595"/>
        <a:ext cx="1601051" cy="1271311"/>
      </dsp:txXfrm>
    </dsp:sp>
    <dsp:sp modelId="{51F68A05-A560-4C6F-BC90-521AEF3B0907}">
      <dsp:nvSpPr>
        <dsp:cNvPr id="0" name=""/>
        <dsp:cNvSpPr/>
      </dsp:nvSpPr>
      <dsp:spPr>
        <a:xfrm>
          <a:off x="1023388" y="4443906"/>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Objectives formulation</a:t>
          </a:r>
        </a:p>
      </dsp:txBody>
      <dsp:txXfrm>
        <a:off x="1328350" y="4443906"/>
        <a:ext cx="1601051" cy="1271311"/>
      </dsp:txXfrm>
    </dsp:sp>
    <dsp:sp modelId="{FC7ED273-8CFD-43C2-9C05-44FADF3E0637}">
      <dsp:nvSpPr>
        <dsp:cNvPr id="0" name=""/>
        <dsp:cNvSpPr/>
      </dsp:nvSpPr>
      <dsp:spPr>
        <a:xfrm>
          <a:off x="6847" y="121702"/>
          <a:ext cx="1270675" cy="1270675"/>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kern="1200" dirty="0"/>
            <a:t>Phase1</a:t>
          </a:r>
        </a:p>
        <a:p>
          <a:pPr marL="0" lvl="0" indent="0" algn="ctr" defTabSz="933450">
            <a:lnSpc>
              <a:spcPct val="90000"/>
            </a:lnSpc>
            <a:spcBef>
              <a:spcPct val="0"/>
            </a:spcBef>
            <a:spcAft>
              <a:spcPct val="35000"/>
            </a:spcAft>
            <a:buNone/>
          </a:pPr>
          <a:r>
            <a:rPr lang="en-US" sz="2100" kern="1200" dirty="0"/>
            <a:t>10%  </a:t>
          </a:r>
        </a:p>
      </dsp:txBody>
      <dsp:txXfrm>
        <a:off x="192933" y="307788"/>
        <a:ext cx="898503" cy="898503"/>
      </dsp:txXfrm>
    </dsp:sp>
    <dsp:sp modelId="{F660F4B9-35DB-4256-A868-A35C6DCCF6B2}">
      <dsp:nvSpPr>
        <dsp:cNvPr id="0" name=""/>
        <dsp:cNvSpPr/>
      </dsp:nvSpPr>
      <dsp:spPr>
        <a:xfrm>
          <a:off x="4200078" y="629972"/>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Modelling</a:t>
          </a:r>
        </a:p>
      </dsp:txBody>
      <dsp:txXfrm>
        <a:off x="4505040" y="629972"/>
        <a:ext cx="1601051" cy="1271311"/>
      </dsp:txXfrm>
    </dsp:sp>
    <dsp:sp modelId="{614EBA0E-D12B-447E-B378-B0FA2DEBEA2F}">
      <dsp:nvSpPr>
        <dsp:cNvPr id="0" name=""/>
        <dsp:cNvSpPr/>
      </dsp:nvSpPr>
      <dsp:spPr>
        <a:xfrm>
          <a:off x="4200078" y="1901283"/>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Simulation</a:t>
          </a:r>
        </a:p>
      </dsp:txBody>
      <dsp:txXfrm>
        <a:off x="4505040" y="1901283"/>
        <a:ext cx="1601051" cy="1271311"/>
      </dsp:txXfrm>
    </dsp:sp>
    <dsp:sp modelId="{68509703-D239-4E1B-8CF0-EF08079E1226}">
      <dsp:nvSpPr>
        <dsp:cNvPr id="0" name=""/>
        <dsp:cNvSpPr/>
      </dsp:nvSpPr>
      <dsp:spPr>
        <a:xfrm>
          <a:off x="4224361" y="3172595"/>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Experiment</a:t>
          </a:r>
        </a:p>
      </dsp:txBody>
      <dsp:txXfrm>
        <a:off x="4529323" y="3172595"/>
        <a:ext cx="1601051" cy="1271311"/>
      </dsp:txXfrm>
    </dsp:sp>
    <dsp:sp modelId="{FD776C1E-557E-4553-9447-49B69EEC7907}">
      <dsp:nvSpPr>
        <dsp:cNvPr id="0" name=""/>
        <dsp:cNvSpPr/>
      </dsp:nvSpPr>
      <dsp:spPr>
        <a:xfrm>
          <a:off x="3183537" y="121702"/>
          <a:ext cx="1270675" cy="1270675"/>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kern="1200" dirty="0"/>
            <a:t>Phase 2 30%</a:t>
          </a:r>
        </a:p>
      </dsp:txBody>
      <dsp:txXfrm>
        <a:off x="3369623" y="307788"/>
        <a:ext cx="898503" cy="898503"/>
      </dsp:txXfrm>
    </dsp:sp>
    <dsp:sp modelId="{AD2806AC-6A03-4F05-9F4D-F72EA0E56FBF}">
      <dsp:nvSpPr>
        <dsp:cNvPr id="0" name=""/>
        <dsp:cNvSpPr/>
      </dsp:nvSpPr>
      <dsp:spPr>
        <a:xfrm>
          <a:off x="7376768" y="629972"/>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Analysis</a:t>
          </a:r>
        </a:p>
      </dsp:txBody>
      <dsp:txXfrm>
        <a:off x="7681730" y="629972"/>
        <a:ext cx="1601051" cy="1271311"/>
      </dsp:txXfrm>
    </dsp:sp>
    <dsp:sp modelId="{5314AADB-0AD3-4BAE-9F15-B0FE4F44C802}">
      <dsp:nvSpPr>
        <dsp:cNvPr id="0" name=""/>
        <dsp:cNvSpPr/>
      </dsp:nvSpPr>
      <dsp:spPr>
        <a:xfrm>
          <a:off x="7376768" y="1901283"/>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Paper drafting</a:t>
          </a:r>
        </a:p>
      </dsp:txBody>
      <dsp:txXfrm>
        <a:off x="7681730" y="1901283"/>
        <a:ext cx="1601051" cy="1271311"/>
      </dsp:txXfrm>
    </dsp:sp>
    <dsp:sp modelId="{89E6DA6E-7A23-44BD-8A99-378091FF741D}">
      <dsp:nvSpPr>
        <dsp:cNvPr id="0" name=""/>
        <dsp:cNvSpPr/>
      </dsp:nvSpPr>
      <dsp:spPr>
        <a:xfrm>
          <a:off x="6360227" y="121702"/>
          <a:ext cx="1270675" cy="1270675"/>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kern="1200" dirty="0"/>
            <a:t>Phase 3 50%-70%</a:t>
          </a:r>
        </a:p>
      </dsp:txBody>
      <dsp:txXfrm>
        <a:off x="6546313" y="307788"/>
        <a:ext cx="898503" cy="898503"/>
      </dsp:txXfrm>
    </dsp:sp>
    <dsp:sp modelId="{402C2C77-A32C-4D99-9940-12535E1181F2}">
      <dsp:nvSpPr>
        <dsp:cNvPr id="0" name=""/>
        <dsp:cNvSpPr/>
      </dsp:nvSpPr>
      <dsp:spPr>
        <a:xfrm>
          <a:off x="10553458" y="629972"/>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Paper Submitted to Journal</a:t>
          </a:r>
        </a:p>
      </dsp:txBody>
      <dsp:txXfrm>
        <a:off x="10858420" y="629972"/>
        <a:ext cx="1601051" cy="1271311"/>
      </dsp:txXfrm>
    </dsp:sp>
    <dsp:sp modelId="{3086D0BF-AAD1-4310-88ED-4D81A687BD50}">
      <dsp:nvSpPr>
        <dsp:cNvPr id="0" name=""/>
        <dsp:cNvSpPr/>
      </dsp:nvSpPr>
      <dsp:spPr>
        <a:xfrm>
          <a:off x="10553458" y="1901283"/>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Under Review</a:t>
          </a:r>
        </a:p>
      </dsp:txBody>
      <dsp:txXfrm>
        <a:off x="10858420" y="1901283"/>
        <a:ext cx="1601051" cy="1271311"/>
      </dsp:txXfrm>
    </dsp:sp>
    <dsp:sp modelId="{7453D9C8-CD6E-4AA4-8A19-7F6F667528F0}">
      <dsp:nvSpPr>
        <dsp:cNvPr id="0" name=""/>
        <dsp:cNvSpPr/>
      </dsp:nvSpPr>
      <dsp:spPr>
        <a:xfrm>
          <a:off x="9536917" y="121702"/>
          <a:ext cx="1270675" cy="1270675"/>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kern="1200" dirty="0"/>
            <a:t>Phase 4 -80%</a:t>
          </a:r>
        </a:p>
      </dsp:txBody>
      <dsp:txXfrm>
        <a:off x="9723003" y="307788"/>
        <a:ext cx="898503" cy="898503"/>
      </dsp:txXfrm>
    </dsp:sp>
  </dsp:spTree>
</dsp:drawing>
</file>

<file path=ppt/diagrams/layout1.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0097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064978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186360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4.png"/><Relationship Id="rId7" Type="http://schemas.openxmlformats.org/officeDocument/2006/relationships/diagramQuickStyle" Target="../diagrams/quickStyle1.xml"/><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png"/><Relationship Id="rId9" Type="http://schemas.microsoft.com/office/2007/relationships/diagramDrawing" Target="../diagrams/drawing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688231-6BDA-48BC-9C84-58907CBEFAE9}"/>
              </a:ext>
            </a:extLst>
          </p:cNvPr>
          <p:cNvPicPr>
            <a:picLocks noChangeAspect="1"/>
          </p:cNvPicPr>
          <p:nvPr/>
        </p:nvPicPr>
        <p:blipFill>
          <a:blip r:embed="rId3"/>
          <a:stretch>
            <a:fillRect/>
          </a:stretch>
        </p:blipFill>
        <p:spPr>
          <a:xfrm>
            <a:off x="-89991" y="15240"/>
            <a:ext cx="14810381" cy="8229600"/>
          </a:xfrm>
          <a:prstGeom prst="rect">
            <a:avLst/>
          </a:prstGeom>
        </p:spPr>
      </p:pic>
      <p:sp>
        <p:nvSpPr>
          <p:cNvPr id="2" name="Text 0"/>
          <p:cNvSpPr/>
          <p:nvPr/>
        </p:nvSpPr>
        <p:spPr>
          <a:xfrm>
            <a:off x="793788" y="2726453"/>
            <a:ext cx="13042821" cy="2126337"/>
          </a:xfrm>
          <a:prstGeom prst="rect">
            <a:avLst/>
          </a:prstGeom>
          <a:noFill/>
          <a:ln/>
        </p:spPr>
        <p:txBody>
          <a:bodyPr wrap="squar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A Hybrid Framework of Graph Algorithms and AI for Relational Modelling of Healthcare Data</a:t>
            </a:r>
            <a:endParaRPr lang="en-US" sz="4450" dirty="0"/>
          </a:p>
        </p:txBody>
      </p:sp>
      <p:sp>
        <p:nvSpPr>
          <p:cNvPr id="6" name="TextBox 5">
            <a:extLst>
              <a:ext uri="{FF2B5EF4-FFF2-40B4-BE49-F238E27FC236}">
                <a16:creationId xmlns:a16="http://schemas.microsoft.com/office/drawing/2014/main" id="{29C84814-DE27-48D4-9919-1D3A0AF62501}"/>
              </a:ext>
            </a:extLst>
          </p:cNvPr>
          <p:cNvSpPr txBox="1"/>
          <p:nvPr/>
        </p:nvSpPr>
        <p:spPr>
          <a:xfrm>
            <a:off x="10092950" y="5302746"/>
            <a:ext cx="7487322" cy="646331"/>
          </a:xfrm>
          <a:prstGeom prst="rect">
            <a:avLst/>
          </a:prstGeom>
          <a:noFill/>
        </p:spPr>
        <p:txBody>
          <a:bodyPr wrap="square">
            <a:spAutoFit/>
          </a:bodyPr>
          <a:lstStyle/>
          <a:p>
            <a:r>
              <a:rPr lang="en-US" b="1" dirty="0"/>
              <a:t>Yash Sharma (RA2411003010957)</a:t>
            </a:r>
          </a:p>
          <a:p>
            <a:r>
              <a:rPr lang="en-US" b="1" dirty="0" err="1"/>
              <a:t>Yatharth</a:t>
            </a:r>
            <a:r>
              <a:rPr lang="en-US" b="1" dirty="0"/>
              <a:t> Garg (RA2411003010744)</a:t>
            </a:r>
          </a:p>
        </p:txBody>
      </p:sp>
      <p:sp>
        <p:nvSpPr>
          <p:cNvPr id="8" name="TextBox 7">
            <a:extLst>
              <a:ext uri="{FF2B5EF4-FFF2-40B4-BE49-F238E27FC236}">
                <a16:creationId xmlns:a16="http://schemas.microsoft.com/office/drawing/2014/main" id="{002F48D0-FEBF-46E8-A509-730EAE2CF3DD}"/>
              </a:ext>
            </a:extLst>
          </p:cNvPr>
          <p:cNvSpPr txBox="1"/>
          <p:nvPr/>
        </p:nvSpPr>
        <p:spPr>
          <a:xfrm>
            <a:off x="793790" y="5356562"/>
            <a:ext cx="7492700" cy="646331"/>
          </a:xfrm>
          <a:prstGeom prst="rect">
            <a:avLst/>
          </a:prstGeom>
          <a:noFill/>
        </p:spPr>
        <p:txBody>
          <a:bodyPr wrap="square">
            <a:spAutoFit/>
          </a:bodyPr>
          <a:lstStyle/>
          <a:p>
            <a:r>
              <a:rPr lang="en-US" sz="1800" dirty="0">
                <a:solidFill>
                  <a:srgbClr val="405449"/>
                </a:solidFill>
                <a:latin typeface="Nobile" pitchFamily="34" charset="0"/>
                <a:ea typeface="Nobile" pitchFamily="34" charset="-122"/>
                <a:cs typeface="Nobile" pitchFamily="34" charset="-120"/>
              </a:rPr>
              <a:t>Dr. </a:t>
            </a:r>
            <a:r>
              <a:rPr lang="en-US" sz="1800" dirty="0" err="1">
                <a:solidFill>
                  <a:srgbClr val="405449"/>
                </a:solidFill>
                <a:latin typeface="Nobile" pitchFamily="34" charset="0"/>
                <a:ea typeface="Nobile" pitchFamily="34" charset="-122"/>
                <a:cs typeface="Nobile" pitchFamily="34" charset="-120"/>
              </a:rPr>
              <a:t>Sheeja</a:t>
            </a:r>
            <a:r>
              <a:rPr lang="en-US" sz="1800" dirty="0">
                <a:solidFill>
                  <a:srgbClr val="405449"/>
                </a:solidFill>
                <a:latin typeface="Nobile" pitchFamily="34" charset="0"/>
                <a:ea typeface="Nobile" pitchFamily="34" charset="-122"/>
                <a:cs typeface="Nobile" pitchFamily="34" charset="-120"/>
              </a:rPr>
              <a:t> G, </a:t>
            </a:r>
          </a:p>
          <a:p>
            <a:r>
              <a:rPr lang="en-US" sz="1800" dirty="0">
                <a:solidFill>
                  <a:srgbClr val="405449"/>
                </a:solidFill>
                <a:latin typeface="Nobile" pitchFamily="34" charset="0"/>
                <a:ea typeface="Nobile" pitchFamily="34" charset="-122"/>
                <a:cs typeface="Nobile" pitchFamily="34" charset="-120"/>
              </a:rPr>
              <a:t>Department of Mathematics</a:t>
            </a:r>
            <a:r>
              <a:rPr lang="en-US" dirty="0"/>
              <a:t>, </a:t>
            </a:r>
          </a:p>
        </p:txBody>
      </p:sp>
      <p:sp>
        <p:nvSpPr>
          <p:cNvPr id="9" name="TextBox 8">
            <a:extLst>
              <a:ext uri="{FF2B5EF4-FFF2-40B4-BE49-F238E27FC236}">
                <a16:creationId xmlns:a16="http://schemas.microsoft.com/office/drawing/2014/main" id="{E04E9DE5-FC16-4785-858D-050B8E0C5383}"/>
              </a:ext>
            </a:extLst>
          </p:cNvPr>
          <p:cNvSpPr txBox="1"/>
          <p:nvPr/>
        </p:nvSpPr>
        <p:spPr>
          <a:xfrm>
            <a:off x="6250193" y="271574"/>
            <a:ext cx="8218842" cy="369332"/>
          </a:xfrm>
          <a:prstGeom prst="rect">
            <a:avLst/>
          </a:prstGeom>
          <a:noFill/>
        </p:spPr>
        <p:txBody>
          <a:bodyPr wrap="square">
            <a:spAutoFit/>
          </a:bodyPr>
          <a:lstStyle/>
          <a:p>
            <a:pPr algn="r"/>
            <a:r>
              <a:rPr lang="en-US" dirty="0"/>
              <a:t>UROP Project ID: </a:t>
            </a:r>
            <a:r>
              <a:rPr lang="en-US" b="1" dirty="0">
                <a:solidFill>
                  <a:srgbClr val="0070C0"/>
                </a:solidFill>
              </a:rPr>
              <a:t>UROP-2026-D874A2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2206B7-D986-422F-964A-5F3B3A660892}"/>
              </a:ext>
            </a:extLst>
          </p:cNvPr>
          <p:cNvPicPr>
            <a:picLocks noChangeAspect="1"/>
          </p:cNvPicPr>
          <p:nvPr/>
        </p:nvPicPr>
        <p:blipFill>
          <a:blip r:embed="rId3"/>
          <a:stretch>
            <a:fillRect/>
          </a:stretch>
        </p:blipFill>
        <p:spPr>
          <a:xfrm>
            <a:off x="0" y="-3032"/>
            <a:ext cx="14810381" cy="8232631"/>
          </a:xfrm>
          <a:prstGeom prst="rect">
            <a:avLst/>
          </a:prstGeom>
        </p:spPr>
      </p:pic>
      <p:sp>
        <p:nvSpPr>
          <p:cNvPr id="2" name="Text 0"/>
          <p:cNvSpPr/>
          <p:nvPr/>
        </p:nvSpPr>
        <p:spPr>
          <a:xfrm>
            <a:off x="793790" y="541003"/>
            <a:ext cx="9450348"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Problem Statement &amp; Motivation</a:t>
            </a:r>
            <a:endParaRPr lang="en-US" sz="4450" dirty="0"/>
          </a:p>
        </p:txBody>
      </p:sp>
      <p:sp>
        <p:nvSpPr>
          <p:cNvPr id="3" name="Text 1"/>
          <p:cNvSpPr/>
          <p:nvPr/>
        </p:nvSpPr>
        <p:spPr>
          <a:xfrm>
            <a:off x="793790" y="1603049"/>
            <a:ext cx="13042821" cy="1814513"/>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Healthcare data is inherently relational, involving complex interactions amongst patients, diseases, medications, clinicians, and clinical events. Traditional machine learning models treat patient records as independent samples and fail to capture these relationships. This project proposes a graph-based artificial intelligence framework that models healthcare data as a heterogeneous graph, applies classical graph algorithms and graph neural networks, and integrates machine learning techniques to improve disease risk and complication prediction whilst maintaining interpretability. Healthcare data is inherently relational, involving complex interactions among patients, diseases, </a:t>
            </a:r>
          </a:p>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medications, clinicians, and clinical events. </a:t>
            </a:r>
          </a:p>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Conventional machine learning approaches treat patient </a:t>
            </a:r>
          </a:p>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records as independent samples, thereby ignoring structural dependencies and relational context. This </a:t>
            </a:r>
          </a:p>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research proposes a graph-based artificial intelligence framework that models healthcare data as a </a:t>
            </a:r>
          </a:p>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heterogeneous graph, applies classical graph algorithms to extract structural properties, and leverages </a:t>
            </a:r>
          </a:p>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graph embeddings and graph neural networks to learn relational patterns. The objective is to improve </a:t>
            </a:r>
          </a:p>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disease risk and complication prediction while providing interpretable structural insights into healthcare </a:t>
            </a:r>
          </a:p>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networks.</a:t>
            </a:r>
          </a:p>
          <a:p>
            <a:pPr marL="0" indent="0" algn="l">
              <a:lnSpc>
                <a:spcPts val="2850"/>
              </a:lnSpc>
              <a:buNone/>
            </a:pPr>
            <a:endParaRPr lang="en-US" sz="1750" dirty="0">
              <a:solidFill>
                <a:srgbClr val="405449"/>
              </a:solidFill>
              <a:latin typeface="Nobile" pitchFamily="34" charset="0"/>
              <a:ea typeface="Nobile" pitchFamily="34" charset="-122"/>
              <a:cs typeface="Nobile" pitchFamily="34" charset="-120"/>
            </a:endParaRPr>
          </a:p>
          <a:p>
            <a:pPr marL="0" indent="0" algn="l">
              <a:lnSpc>
                <a:spcPts val="2850"/>
              </a:lnSpc>
              <a:buNone/>
            </a:pPr>
            <a:endParaRPr lang="en-US" sz="1750" dirty="0">
              <a:solidFill>
                <a:srgbClr val="405449"/>
              </a:solidFill>
              <a:latin typeface="Nobile" pitchFamily="34" charset="0"/>
              <a:ea typeface="Nobile" pitchFamily="34" charset="-122"/>
              <a:cs typeface="Nobile" pitchFamily="34" charset="-120"/>
            </a:endParaRPr>
          </a:p>
          <a:p>
            <a:pPr marL="0" indent="0" algn="l">
              <a:lnSpc>
                <a:spcPts val="2850"/>
              </a:lnSpc>
              <a:buNone/>
            </a:pPr>
            <a:endParaRPr lang="en-US" sz="1750" dirty="0">
              <a:solidFill>
                <a:srgbClr val="405449"/>
              </a:solidFill>
              <a:latin typeface="Nobile" pitchFamily="34" charset="0"/>
            </a:endParaRPr>
          </a:p>
          <a:p>
            <a:pPr marL="0" indent="0" algn="l">
              <a:lnSpc>
                <a:spcPts val="2850"/>
              </a:lnSpc>
              <a:buNone/>
            </a:pP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94F9A77-46A9-47E4-BDE2-755B6CFAB634}"/>
              </a:ext>
            </a:extLst>
          </p:cNvPr>
          <p:cNvPicPr>
            <a:picLocks noChangeAspect="1"/>
          </p:cNvPicPr>
          <p:nvPr/>
        </p:nvPicPr>
        <p:blipFill>
          <a:blip r:embed="rId3"/>
          <a:stretch>
            <a:fillRect/>
          </a:stretch>
        </p:blipFill>
        <p:spPr>
          <a:xfrm>
            <a:off x="0" y="-3032"/>
            <a:ext cx="14810381" cy="8232631"/>
          </a:xfrm>
          <a:prstGeom prst="rect">
            <a:avLst/>
          </a:prstGeom>
        </p:spPr>
      </p:pic>
      <p:sp>
        <p:nvSpPr>
          <p:cNvPr id="2" name="Text 0"/>
          <p:cNvSpPr/>
          <p:nvPr/>
        </p:nvSpPr>
        <p:spPr>
          <a:xfrm>
            <a:off x="779383" y="815221"/>
            <a:ext cx="7985879" cy="695920"/>
          </a:xfrm>
          <a:prstGeom prst="rect">
            <a:avLst/>
          </a:prstGeom>
          <a:noFill/>
          <a:ln/>
        </p:spPr>
        <p:txBody>
          <a:bodyPr wrap="none" lIns="0" tIns="0" rIns="0" bIns="0" rtlCol="0" anchor="t"/>
          <a:lstStyle/>
          <a:p>
            <a:pPr marL="0" indent="0" algn="l">
              <a:lnSpc>
                <a:spcPts val="5450"/>
              </a:lnSpc>
              <a:buNone/>
            </a:pPr>
            <a:r>
              <a:rPr lang="en-US" sz="4350" b="1" dirty="0">
                <a:solidFill>
                  <a:srgbClr val="3B4540"/>
                </a:solidFill>
                <a:latin typeface="Fraunces Extra Bold" pitchFamily="34" charset="0"/>
                <a:ea typeface="Fraunces Extra Bold" pitchFamily="34" charset="-122"/>
                <a:cs typeface="Fraunces Extra Bold" pitchFamily="34" charset="-120"/>
              </a:rPr>
              <a:t>Literature Review Summary</a:t>
            </a:r>
            <a:endParaRPr lang="en-US" sz="4350" dirty="0"/>
          </a:p>
        </p:txBody>
      </p:sp>
      <p:sp>
        <p:nvSpPr>
          <p:cNvPr id="3" name="Shape 1"/>
          <p:cNvSpPr/>
          <p:nvPr/>
        </p:nvSpPr>
        <p:spPr>
          <a:xfrm>
            <a:off x="779383" y="1948339"/>
            <a:ext cx="3103959" cy="2623661"/>
          </a:xfrm>
          <a:prstGeom prst="roundRect">
            <a:avLst>
              <a:gd name="adj" fmla="val 5576"/>
            </a:avLst>
          </a:prstGeom>
          <a:solidFill>
            <a:srgbClr val="FAFFFA"/>
          </a:solidFill>
          <a:ln w="30480">
            <a:solidFill>
              <a:srgbClr val="CED9CE"/>
            </a:solidFill>
            <a:prstDash val="solid"/>
          </a:ln>
        </p:spPr>
      </p:sp>
      <p:sp>
        <p:nvSpPr>
          <p:cNvPr id="4" name="Shape 2"/>
          <p:cNvSpPr/>
          <p:nvPr/>
        </p:nvSpPr>
        <p:spPr>
          <a:xfrm>
            <a:off x="748903" y="1948339"/>
            <a:ext cx="121920" cy="2623661"/>
          </a:xfrm>
          <a:prstGeom prst="roundRect">
            <a:avLst>
              <a:gd name="adj" fmla="val 164398"/>
            </a:avLst>
          </a:prstGeom>
          <a:solidFill>
            <a:srgbClr val="438951"/>
          </a:solidFill>
          <a:ln/>
        </p:spPr>
      </p:sp>
      <p:sp>
        <p:nvSpPr>
          <p:cNvPr id="5" name="Text 3"/>
          <p:cNvSpPr/>
          <p:nvPr/>
        </p:nvSpPr>
        <p:spPr>
          <a:xfrm>
            <a:off x="1123950" y="2201466"/>
            <a:ext cx="2506266" cy="2117408"/>
          </a:xfrm>
          <a:prstGeom prst="rect">
            <a:avLst/>
          </a:prstGeom>
          <a:noFill/>
          <a:ln/>
        </p:spPr>
        <p:txBody>
          <a:bodyPr wrap="square" lIns="0" tIns="0" rIns="0" bIns="0" rtlCol="0" anchor="t"/>
          <a:lstStyle/>
          <a:p>
            <a:pPr marL="0" indent="0" algn="l">
              <a:lnSpc>
                <a:spcPts val="2750"/>
              </a:lnSpc>
              <a:buNone/>
            </a:pPr>
            <a:r>
              <a:rPr lang="en-US" sz="1750" dirty="0">
                <a:solidFill>
                  <a:srgbClr val="405449"/>
                </a:solidFill>
                <a:latin typeface="Nobile" pitchFamily="34" charset="0"/>
                <a:ea typeface="Nobile" pitchFamily="34" charset="-122"/>
                <a:cs typeface="Nobile" pitchFamily="34" charset="-120"/>
              </a:rPr>
              <a:t>Healthcare data contains strong dependencies amongst patients, diseases, treatments, and outcomes.</a:t>
            </a:r>
            <a:endParaRPr lang="en-US" sz="1750" dirty="0"/>
          </a:p>
        </p:txBody>
      </p:sp>
      <p:sp>
        <p:nvSpPr>
          <p:cNvPr id="6" name="Shape 4"/>
          <p:cNvSpPr/>
          <p:nvPr/>
        </p:nvSpPr>
        <p:spPr>
          <a:xfrm>
            <a:off x="4101941" y="1948339"/>
            <a:ext cx="3103959" cy="2623661"/>
          </a:xfrm>
          <a:prstGeom prst="roundRect">
            <a:avLst>
              <a:gd name="adj" fmla="val 5576"/>
            </a:avLst>
          </a:prstGeom>
          <a:solidFill>
            <a:srgbClr val="FAFFFA"/>
          </a:solidFill>
          <a:ln w="30480">
            <a:solidFill>
              <a:srgbClr val="CED9CE"/>
            </a:solidFill>
            <a:prstDash val="solid"/>
          </a:ln>
        </p:spPr>
      </p:sp>
      <p:sp>
        <p:nvSpPr>
          <p:cNvPr id="7" name="Shape 5"/>
          <p:cNvSpPr/>
          <p:nvPr/>
        </p:nvSpPr>
        <p:spPr>
          <a:xfrm>
            <a:off x="4071461" y="1948339"/>
            <a:ext cx="121920" cy="2623661"/>
          </a:xfrm>
          <a:prstGeom prst="roundRect">
            <a:avLst>
              <a:gd name="adj" fmla="val 164398"/>
            </a:avLst>
          </a:prstGeom>
          <a:solidFill>
            <a:srgbClr val="438951"/>
          </a:solidFill>
          <a:ln/>
        </p:spPr>
      </p:sp>
      <p:sp>
        <p:nvSpPr>
          <p:cNvPr id="8" name="Text 6"/>
          <p:cNvSpPr/>
          <p:nvPr/>
        </p:nvSpPr>
        <p:spPr>
          <a:xfrm>
            <a:off x="4446508" y="2201466"/>
            <a:ext cx="2506266" cy="2117408"/>
          </a:xfrm>
          <a:prstGeom prst="rect">
            <a:avLst/>
          </a:prstGeom>
          <a:noFill/>
          <a:ln/>
        </p:spPr>
        <p:txBody>
          <a:bodyPr wrap="square" lIns="0" tIns="0" rIns="0" bIns="0" rtlCol="0" anchor="t"/>
          <a:lstStyle/>
          <a:p>
            <a:pPr marL="0" indent="0" algn="l">
              <a:lnSpc>
                <a:spcPts val="2750"/>
              </a:lnSpc>
              <a:buNone/>
            </a:pPr>
            <a:r>
              <a:rPr lang="en-US" sz="1750" dirty="0">
                <a:solidFill>
                  <a:srgbClr val="405449"/>
                </a:solidFill>
                <a:latin typeface="Nobile" pitchFamily="34" charset="0"/>
                <a:ea typeface="Nobile" pitchFamily="34" charset="-122"/>
                <a:cs typeface="Nobile" pitchFamily="34" charset="-120"/>
              </a:rPr>
              <a:t>Knowledge graphs provide an effective way to represent heterogeneous medical entities and relationships.</a:t>
            </a:r>
            <a:endParaRPr lang="en-US" sz="1750" dirty="0"/>
          </a:p>
        </p:txBody>
      </p:sp>
      <p:sp>
        <p:nvSpPr>
          <p:cNvPr id="9" name="Shape 7"/>
          <p:cNvSpPr/>
          <p:nvPr/>
        </p:nvSpPr>
        <p:spPr>
          <a:xfrm>
            <a:off x="7424499" y="1948339"/>
            <a:ext cx="3103959" cy="2623661"/>
          </a:xfrm>
          <a:prstGeom prst="roundRect">
            <a:avLst>
              <a:gd name="adj" fmla="val 5576"/>
            </a:avLst>
          </a:prstGeom>
          <a:solidFill>
            <a:srgbClr val="FAFFFA"/>
          </a:solidFill>
          <a:ln w="30480">
            <a:solidFill>
              <a:srgbClr val="CED9CE"/>
            </a:solidFill>
            <a:prstDash val="solid"/>
          </a:ln>
        </p:spPr>
      </p:sp>
      <p:sp>
        <p:nvSpPr>
          <p:cNvPr id="10" name="Shape 8"/>
          <p:cNvSpPr/>
          <p:nvPr/>
        </p:nvSpPr>
        <p:spPr>
          <a:xfrm>
            <a:off x="7394019" y="1948339"/>
            <a:ext cx="121920" cy="2623661"/>
          </a:xfrm>
          <a:prstGeom prst="roundRect">
            <a:avLst>
              <a:gd name="adj" fmla="val 164398"/>
            </a:avLst>
          </a:prstGeom>
          <a:solidFill>
            <a:srgbClr val="438951"/>
          </a:solidFill>
          <a:ln/>
        </p:spPr>
      </p:sp>
      <p:sp>
        <p:nvSpPr>
          <p:cNvPr id="11" name="Text 9"/>
          <p:cNvSpPr/>
          <p:nvPr/>
        </p:nvSpPr>
        <p:spPr>
          <a:xfrm>
            <a:off x="7769066" y="2201466"/>
            <a:ext cx="2506266" cy="2117408"/>
          </a:xfrm>
          <a:prstGeom prst="rect">
            <a:avLst/>
          </a:prstGeom>
          <a:noFill/>
          <a:ln/>
        </p:spPr>
        <p:txBody>
          <a:bodyPr wrap="square" lIns="0" tIns="0" rIns="0" bIns="0" rtlCol="0" anchor="t"/>
          <a:lstStyle/>
          <a:p>
            <a:pPr marL="0" indent="0" algn="l">
              <a:lnSpc>
                <a:spcPts val="2750"/>
              </a:lnSpc>
              <a:buNone/>
            </a:pPr>
            <a:r>
              <a:rPr lang="en-US" sz="1750" dirty="0">
                <a:solidFill>
                  <a:srgbClr val="405449"/>
                </a:solidFill>
                <a:latin typeface="Nobile" pitchFamily="34" charset="0"/>
                <a:ea typeface="Nobile" pitchFamily="34" charset="-122"/>
                <a:cs typeface="Nobile" pitchFamily="34" charset="-120"/>
              </a:rPr>
              <a:t>Hybrid AI systems combining symbolic reasoning and machine learning improve interpretability and trust.</a:t>
            </a:r>
            <a:endParaRPr lang="en-US" sz="1750" dirty="0"/>
          </a:p>
        </p:txBody>
      </p:sp>
      <p:sp>
        <p:nvSpPr>
          <p:cNvPr id="12" name="Shape 10"/>
          <p:cNvSpPr/>
          <p:nvPr/>
        </p:nvSpPr>
        <p:spPr>
          <a:xfrm>
            <a:off x="10747058" y="1948339"/>
            <a:ext cx="3103959" cy="2623661"/>
          </a:xfrm>
          <a:prstGeom prst="roundRect">
            <a:avLst>
              <a:gd name="adj" fmla="val 5576"/>
            </a:avLst>
          </a:prstGeom>
          <a:solidFill>
            <a:srgbClr val="FAFFFA"/>
          </a:solidFill>
          <a:ln w="30480">
            <a:solidFill>
              <a:srgbClr val="CED9CE"/>
            </a:solidFill>
            <a:prstDash val="solid"/>
          </a:ln>
        </p:spPr>
      </p:sp>
      <p:sp>
        <p:nvSpPr>
          <p:cNvPr id="13" name="Shape 11"/>
          <p:cNvSpPr/>
          <p:nvPr/>
        </p:nvSpPr>
        <p:spPr>
          <a:xfrm>
            <a:off x="10716578" y="1948339"/>
            <a:ext cx="121920" cy="2623661"/>
          </a:xfrm>
          <a:prstGeom prst="roundRect">
            <a:avLst>
              <a:gd name="adj" fmla="val 164398"/>
            </a:avLst>
          </a:prstGeom>
          <a:solidFill>
            <a:srgbClr val="438951"/>
          </a:solidFill>
          <a:ln/>
        </p:spPr>
      </p:sp>
      <p:sp>
        <p:nvSpPr>
          <p:cNvPr id="14" name="Text 12"/>
          <p:cNvSpPr/>
          <p:nvPr/>
        </p:nvSpPr>
        <p:spPr>
          <a:xfrm>
            <a:off x="11091624" y="2201466"/>
            <a:ext cx="2506266" cy="1411605"/>
          </a:xfrm>
          <a:prstGeom prst="rect">
            <a:avLst/>
          </a:prstGeom>
          <a:noFill/>
          <a:ln/>
        </p:spPr>
        <p:txBody>
          <a:bodyPr wrap="square" lIns="0" tIns="0" rIns="0" bIns="0" rtlCol="0" anchor="t"/>
          <a:lstStyle/>
          <a:p>
            <a:pPr marL="0" indent="0" algn="l">
              <a:lnSpc>
                <a:spcPts val="2750"/>
              </a:lnSpc>
              <a:buNone/>
            </a:pPr>
            <a:r>
              <a:rPr lang="en-US" sz="1750" dirty="0">
                <a:solidFill>
                  <a:srgbClr val="405449"/>
                </a:solidFill>
                <a:latin typeface="Nobile" pitchFamily="34" charset="0"/>
                <a:ea typeface="Nobile" pitchFamily="34" charset="-122"/>
                <a:cs typeface="Nobile" pitchFamily="34" charset="-120"/>
              </a:rPr>
              <a:t>Graph neural networks outperform traditional ML models in disease prediction tasks.</a:t>
            </a:r>
            <a:endParaRPr lang="en-US" sz="1750" dirty="0"/>
          </a:p>
        </p:txBody>
      </p:sp>
      <p:sp>
        <p:nvSpPr>
          <p:cNvPr id="15" name="Shape 13"/>
          <p:cNvSpPr/>
          <p:nvPr/>
        </p:nvSpPr>
        <p:spPr>
          <a:xfrm>
            <a:off x="779383" y="4790599"/>
            <a:ext cx="3103959" cy="2623661"/>
          </a:xfrm>
          <a:prstGeom prst="roundRect">
            <a:avLst>
              <a:gd name="adj" fmla="val 5576"/>
            </a:avLst>
          </a:prstGeom>
          <a:solidFill>
            <a:srgbClr val="FAFFFA"/>
          </a:solidFill>
          <a:ln w="30480">
            <a:solidFill>
              <a:srgbClr val="CED9CE"/>
            </a:solidFill>
            <a:prstDash val="solid"/>
          </a:ln>
        </p:spPr>
      </p:sp>
      <p:sp>
        <p:nvSpPr>
          <p:cNvPr id="16" name="Shape 14"/>
          <p:cNvSpPr/>
          <p:nvPr/>
        </p:nvSpPr>
        <p:spPr>
          <a:xfrm>
            <a:off x="748903" y="4790599"/>
            <a:ext cx="121920" cy="2623661"/>
          </a:xfrm>
          <a:prstGeom prst="roundRect">
            <a:avLst>
              <a:gd name="adj" fmla="val 164398"/>
            </a:avLst>
          </a:prstGeom>
          <a:solidFill>
            <a:srgbClr val="438951"/>
          </a:solidFill>
          <a:ln/>
        </p:spPr>
      </p:sp>
      <p:sp>
        <p:nvSpPr>
          <p:cNvPr id="17" name="Text 15"/>
          <p:cNvSpPr/>
          <p:nvPr/>
        </p:nvSpPr>
        <p:spPr>
          <a:xfrm>
            <a:off x="1123950" y="5043726"/>
            <a:ext cx="2506266" cy="1764506"/>
          </a:xfrm>
          <a:prstGeom prst="rect">
            <a:avLst/>
          </a:prstGeom>
          <a:noFill/>
          <a:ln/>
        </p:spPr>
        <p:txBody>
          <a:bodyPr wrap="square" lIns="0" tIns="0" rIns="0" bIns="0" rtlCol="0" anchor="t"/>
          <a:lstStyle/>
          <a:p>
            <a:pPr marL="0" indent="0" algn="l">
              <a:lnSpc>
                <a:spcPts val="2750"/>
              </a:lnSpc>
              <a:buNone/>
            </a:pPr>
            <a:r>
              <a:rPr lang="en-US" sz="1750" dirty="0">
                <a:solidFill>
                  <a:srgbClr val="405449"/>
                </a:solidFill>
                <a:latin typeface="Nobile" pitchFamily="34" charset="0"/>
                <a:ea typeface="Nobile" pitchFamily="34" charset="-122"/>
                <a:cs typeface="Nobile" pitchFamily="34" charset="-120"/>
              </a:rPr>
              <a:t>Explainable AI integrated with graph learning helps clinicians understand predictions.</a:t>
            </a:r>
            <a:endParaRPr lang="en-US" sz="1750" dirty="0"/>
          </a:p>
        </p:txBody>
      </p:sp>
      <p:sp>
        <p:nvSpPr>
          <p:cNvPr id="18" name="Shape 16"/>
          <p:cNvSpPr/>
          <p:nvPr/>
        </p:nvSpPr>
        <p:spPr>
          <a:xfrm>
            <a:off x="4101941" y="4790599"/>
            <a:ext cx="3103959" cy="2623661"/>
          </a:xfrm>
          <a:prstGeom prst="roundRect">
            <a:avLst>
              <a:gd name="adj" fmla="val 5576"/>
            </a:avLst>
          </a:prstGeom>
          <a:solidFill>
            <a:srgbClr val="FAFFFA"/>
          </a:solidFill>
          <a:ln w="30480">
            <a:solidFill>
              <a:srgbClr val="CED9CE"/>
            </a:solidFill>
            <a:prstDash val="solid"/>
          </a:ln>
        </p:spPr>
      </p:sp>
      <p:sp>
        <p:nvSpPr>
          <p:cNvPr id="19" name="Shape 17"/>
          <p:cNvSpPr/>
          <p:nvPr/>
        </p:nvSpPr>
        <p:spPr>
          <a:xfrm>
            <a:off x="4071461" y="4790599"/>
            <a:ext cx="121920" cy="2623661"/>
          </a:xfrm>
          <a:prstGeom prst="roundRect">
            <a:avLst>
              <a:gd name="adj" fmla="val 164398"/>
            </a:avLst>
          </a:prstGeom>
          <a:solidFill>
            <a:srgbClr val="438951"/>
          </a:solidFill>
          <a:ln/>
        </p:spPr>
      </p:sp>
      <p:sp>
        <p:nvSpPr>
          <p:cNvPr id="20" name="Text 18"/>
          <p:cNvSpPr/>
          <p:nvPr/>
        </p:nvSpPr>
        <p:spPr>
          <a:xfrm>
            <a:off x="4446508" y="5043726"/>
            <a:ext cx="2506266" cy="1764506"/>
          </a:xfrm>
          <a:prstGeom prst="rect">
            <a:avLst/>
          </a:prstGeom>
          <a:noFill/>
          <a:ln/>
        </p:spPr>
        <p:txBody>
          <a:bodyPr wrap="square" lIns="0" tIns="0" rIns="0" bIns="0" rtlCol="0" anchor="t"/>
          <a:lstStyle/>
          <a:p>
            <a:pPr marL="0" indent="0" algn="l">
              <a:lnSpc>
                <a:spcPts val="2750"/>
              </a:lnSpc>
              <a:buNone/>
            </a:pPr>
            <a:r>
              <a:rPr lang="en-US" sz="1750" dirty="0">
                <a:solidFill>
                  <a:srgbClr val="405449"/>
                </a:solidFill>
                <a:latin typeface="Nobile" pitchFamily="34" charset="0"/>
                <a:ea typeface="Nobile" pitchFamily="34" charset="-122"/>
                <a:cs typeface="Nobile" pitchFamily="34" charset="-120"/>
              </a:rPr>
              <a:t>Data modelling choices and graph structure significantly influence predictive performance.</a:t>
            </a:r>
            <a:endParaRPr lang="en-US" sz="1750" dirty="0"/>
          </a:p>
        </p:txBody>
      </p:sp>
      <p:sp>
        <p:nvSpPr>
          <p:cNvPr id="21" name="Shape 19"/>
          <p:cNvSpPr/>
          <p:nvPr/>
        </p:nvSpPr>
        <p:spPr>
          <a:xfrm>
            <a:off x="7424499" y="4790599"/>
            <a:ext cx="3103959" cy="2623661"/>
          </a:xfrm>
          <a:prstGeom prst="roundRect">
            <a:avLst>
              <a:gd name="adj" fmla="val 5576"/>
            </a:avLst>
          </a:prstGeom>
          <a:solidFill>
            <a:srgbClr val="FAFFFA"/>
          </a:solidFill>
          <a:ln w="30480">
            <a:solidFill>
              <a:srgbClr val="CED9CE"/>
            </a:solidFill>
            <a:prstDash val="solid"/>
          </a:ln>
        </p:spPr>
      </p:sp>
      <p:sp>
        <p:nvSpPr>
          <p:cNvPr id="22" name="Shape 20"/>
          <p:cNvSpPr/>
          <p:nvPr/>
        </p:nvSpPr>
        <p:spPr>
          <a:xfrm>
            <a:off x="7394019" y="4790599"/>
            <a:ext cx="121920" cy="2623661"/>
          </a:xfrm>
          <a:prstGeom prst="roundRect">
            <a:avLst>
              <a:gd name="adj" fmla="val 164398"/>
            </a:avLst>
          </a:prstGeom>
          <a:solidFill>
            <a:srgbClr val="438951"/>
          </a:solidFill>
          <a:ln/>
        </p:spPr>
      </p:sp>
      <p:sp>
        <p:nvSpPr>
          <p:cNvPr id="23" name="Text 21"/>
          <p:cNvSpPr/>
          <p:nvPr/>
        </p:nvSpPr>
        <p:spPr>
          <a:xfrm>
            <a:off x="7769066" y="5043726"/>
            <a:ext cx="2506266" cy="2117408"/>
          </a:xfrm>
          <a:prstGeom prst="rect">
            <a:avLst/>
          </a:prstGeom>
          <a:noFill/>
          <a:ln/>
        </p:spPr>
        <p:txBody>
          <a:bodyPr wrap="square" lIns="0" tIns="0" rIns="0" bIns="0" rtlCol="0" anchor="t"/>
          <a:lstStyle/>
          <a:p>
            <a:pPr marL="0" indent="0" algn="l">
              <a:lnSpc>
                <a:spcPts val="2750"/>
              </a:lnSpc>
              <a:buNone/>
            </a:pPr>
            <a:r>
              <a:rPr lang="en-US" sz="1750" dirty="0">
                <a:solidFill>
                  <a:srgbClr val="405449"/>
                </a:solidFill>
                <a:latin typeface="Nobile" pitchFamily="34" charset="0"/>
                <a:ea typeface="Nobile" pitchFamily="34" charset="-122"/>
                <a:cs typeface="Nobile" pitchFamily="34" charset="-120"/>
              </a:rPr>
              <a:t>There is limited work comparing classical ML, PCA-based learning, and GNNs within one unified framework.</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CD96C3D5-9001-4F71-A34C-FD79C12A6BE3}"/>
              </a:ext>
            </a:extLst>
          </p:cNvPr>
          <p:cNvPicPr>
            <a:picLocks noChangeAspect="1"/>
          </p:cNvPicPr>
          <p:nvPr/>
        </p:nvPicPr>
        <p:blipFill>
          <a:blip r:embed="rId3"/>
          <a:stretch>
            <a:fillRect/>
          </a:stretch>
        </p:blipFill>
        <p:spPr>
          <a:xfrm>
            <a:off x="0" y="-3032"/>
            <a:ext cx="14810381" cy="8232631"/>
          </a:xfrm>
          <a:prstGeom prst="rect">
            <a:avLst/>
          </a:prstGeom>
        </p:spPr>
      </p:pic>
      <p:sp>
        <p:nvSpPr>
          <p:cNvPr id="2" name="Text 0"/>
          <p:cNvSpPr/>
          <p:nvPr/>
        </p:nvSpPr>
        <p:spPr>
          <a:xfrm>
            <a:off x="1059418" y="993577"/>
            <a:ext cx="8932188" cy="566499"/>
          </a:xfrm>
          <a:prstGeom prst="rect">
            <a:avLst/>
          </a:prstGeom>
          <a:noFill/>
          <a:ln/>
        </p:spPr>
        <p:txBody>
          <a:bodyPr wrap="none" lIns="0" tIns="0" rIns="0" bIns="0" rtlCol="0" anchor="t"/>
          <a:lstStyle/>
          <a:p>
            <a:pPr marL="0" indent="0" algn="l">
              <a:lnSpc>
                <a:spcPts val="4450"/>
              </a:lnSpc>
              <a:buNone/>
            </a:pPr>
            <a:r>
              <a:rPr lang="en-US" sz="3550" b="1" dirty="0">
                <a:solidFill>
                  <a:srgbClr val="3B4540"/>
                </a:solidFill>
                <a:latin typeface="Fraunces Extra Bold" pitchFamily="34" charset="0"/>
                <a:ea typeface="Fraunces Extra Bold" pitchFamily="34" charset="-122"/>
                <a:cs typeface="Fraunces Extra Bold" pitchFamily="34" charset="-120"/>
              </a:rPr>
              <a:t>Methodology Adopted / To Be Followed</a:t>
            </a:r>
            <a:endParaRPr lang="en-US" sz="3550" dirty="0"/>
          </a:p>
        </p:txBody>
      </p:sp>
      <p:sp>
        <p:nvSpPr>
          <p:cNvPr id="3" name="Text 1"/>
          <p:cNvSpPr/>
          <p:nvPr/>
        </p:nvSpPr>
        <p:spPr>
          <a:xfrm>
            <a:off x="1059418" y="1849874"/>
            <a:ext cx="181213" cy="226576"/>
          </a:xfrm>
          <a:prstGeom prst="rect">
            <a:avLst/>
          </a:prstGeom>
          <a:noFill/>
          <a:ln/>
        </p:spPr>
        <p:txBody>
          <a:bodyPr wrap="none" lIns="0" tIns="0" rIns="0" bIns="0" rtlCol="0" anchor="t"/>
          <a:lstStyle/>
          <a:p>
            <a:pPr marL="0" indent="0" algn="l">
              <a:lnSpc>
                <a:spcPts val="2050"/>
              </a:lnSpc>
              <a:buNone/>
            </a:pPr>
            <a:r>
              <a:rPr lang="en-US" sz="1400" dirty="0">
                <a:solidFill>
                  <a:srgbClr val="405449"/>
                </a:solidFill>
                <a:latin typeface="Fraunces Light" pitchFamily="34" charset="0"/>
                <a:ea typeface="Fraunces Light" pitchFamily="34" charset="-122"/>
                <a:cs typeface="Fraunces Light" pitchFamily="34" charset="-120"/>
              </a:rPr>
              <a:t>01</a:t>
            </a:r>
            <a:endParaRPr lang="en-US" sz="1400" dirty="0"/>
          </a:p>
        </p:txBody>
      </p:sp>
      <p:sp>
        <p:nvSpPr>
          <p:cNvPr id="4" name="Shape 2"/>
          <p:cNvSpPr/>
          <p:nvPr/>
        </p:nvSpPr>
        <p:spPr>
          <a:xfrm>
            <a:off x="1059418" y="2135029"/>
            <a:ext cx="4073843" cy="22860"/>
          </a:xfrm>
          <a:prstGeom prst="rect">
            <a:avLst/>
          </a:prstGeom>
          <a:solidFill>
            <a:srgbClr val="438951"/>
          </a:solidFill>
          <a:ln/>
        </p:spPr>
      </p:sp>
      <p:sp>
        <p:nvSpPr>
          <p:cNvPr id="5" name="Text 3"/>
          <p:cNvSpPr/>
          <p:nvPr/>
        </p:nvSpPr>
        <p:spPr>
          <a:xfrm>
            <a:off x="1059418" y="2271355"/>
            <a:ext cx="2266593" cy="283369"/>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Data Acquisition</a:t>
            </a:r>
            <a:endParaRPr lang="en-US" sz="1750" dirty="0"/>
          </a:p>
        </p:txBody>
      </p:sp>
      <p:sp>
        <p:nvSpPr>
          <p:cNvPr id="6" name="Text 4"/>
          <p:cNvSpPr/>
          <p:nvPr/>
        </p:nvSpPr>
        <p:spPr>
          <a:xfrm>
            <a:off x="1059418" y="2641640"/>
            <a:ext cx="4073843" cy="782955"/>
          </a:xfrm>
          <a:prstGeom prst="rect">
            <a:avLst/>
          </a:prstGeom>
          <a:noFill/>
          <a:ln/>
        </p:spPr>
        <p:txBody>
          <a:bodyPr wrap="square" lIns="0" tIns="0" rIns="0" bIns="0" rtlCol="0" anchor="t"/>
          <a:lstStyle/>
          <a:p>
            <a:pPr marL="0" indent="0" algn="l">
              <a:lnSpc>
                <a:spcPts val="2050"/>
              </a:lnSpc>
              <a:buNone/>
            </a:pPr>
            <a:r>
              <a:rPr lang="en-US" sz="1400" dirty="0">
                <a:solidFill>
                  <a:srgbClr val="405449"/>
                </a:solidFill>
                <a:latin typeface="Nobile" pitchFamily="34" charset="0"/>
                <a:ea typeface="Nobile" pitchFamily="34" charset="-122"/>
                <a:cs typeface="Nobile" pitchFamily="34" charset="-120"/>
              </a:rPr>
              <a:t>Collect structured healthcare dataset (patients, diseases, medications, lab results, visits).</a:t>
            </a:r>
            <a:endParaRPr lang="en-US" sz="1400" dirty="0"/>
          </a:p>
        </p:txBody>
      </p:sp>
      <p:sp>
        <p:nvSpPr>
          <p:cNvPr id="7" name="Text 5"/>
          <p:cNvSpPr/>
          <p:nvPr/>
        </p:nvSpPr>
        <p:spPr>
          <a:xfrm>
            <a:off x="5278160" y="1849874"/>
            <a:ext cx="181213" cy="226576"/>
          </a:xfrm>
          <a:prstGeom prst="rect">
            <a:avLst/>
          </a:prstGeom>
          <a:noFill/>
          <a:ln/>
        </p:spPr>
        <p:txBody>
          <a:bodyPr wrap="none" lIns="0" tIns="0" rIns="0" bIns="0" rtlCol="0" anchor="t"/>
          <a:lstStyle/>
          <a:p>
            <a:pPr marL="0" indent="0" algn="l">
              <a:lnSpc>
                <a:spcPts val="2050"/>
              </a:lnSpc>
              <a:buNone/>
            </a:pPr>
            <a:r>
              <a:rPr lang="en-US" sz="1400" dirty="0">
                <a:solidFill>
                  <a:srgbClr val="405449"/>
                </a:solidFill>
                <a:latin typeface="Fraunces Light" pitchFamily="34" charset="0"/>
                <a:ea typeface="Fraunces Light" pitchFamily="34" charset="-122"/>
                <a:cs typeface="Fraunces Light" pitchFamily="34" charset="-120"/>
              </a:rPr>
              <a:t>02</a:t>
            </a:r>
            <a:endParaRPr lang="en-US" sz="1400" dirty="0"/>
          </a:p>
        </p:txBody>
      </p:sp>
      <p:sp>
        <p:nvSpPr>
          <p:cNvPr id="8" name="Shape 6"/>
          <p:cNvSpPr/>
          <p:nvPr/>
        </p:nvSpPr>
        <p:spPr>
          <a:xfrm>
            <a:off x="5278160" y="2135029"/>
            <a:ext cx="4073962" cy="22860"/>
          </a:xfrm>
          <a:prstGeom prst="rect">
            <a:avLst/>
          </a:prstGeom>
          <a:solidFill>
            <a:srgbClr val="438951"/>
          </a:solidFill>
          <a:ln/>
        </p:spPr>
      </p:sp>
      <p:sp>
        <p:nvSpPr>
          <p:cNvPr id="9" name="Text 7"/>
          <p:cNvSpPr/>
          <p:nvPr/>
        </p:nvSpPr>
        <p:spPr>
          <a:xfrm>
            <a:off x="5278160" y="2271355"/>
            <a:ext cx="2266593" cy="283369"/>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Data Preprocessing</a:t>
            </a:r>
            <a:endParaRPr lang="en-US" sz="1750" dirty="0"/>
          </a:p>
        </p:txBody>
      </p:sp>
      <p:sp>
        <p:nvSpPr>
          <p:cNvPr id="10" name="Text 8"/>
          <p:cNvSpPr/>
          <p:nvPr/>
        </p:nvSpPr>
        <p:spPr>
          <a:xfrm>
            <a:off x="5278160" y="2641640"/>
            <a:ext cx="4073962" cy="783078"/>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Handle missing values</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Normalise numerical features</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Encode categorical attributes</a:t>
            </a:r>
            <a:endParaRPr lang="en-US" sz="1400" dirty="0"/>
          </a:p>
        </p:txBody>
      </p:sp>
      <p:sp>
        <p:nvSpPr>
          <p:cNvPr id="11" name="Text 9"/>
          <p:cNvSpPr/>
          <p:nvPr/>
        </p:nvSpPr>
        <p:spPr>
          <a:xfrm>
            <a:off x="9497020" y="1849874"/>
            <a:ext cx="181213" cy="226576"/>
          </a:xfrm>
          <a:prstGeom prst="rect">
            <a:avLst/>
          </a:prstGeom>
          <a:noFill/>
          <a:ln/>
        </p:spPr>
        <p:txBody>
          <a:bodyPr wrap="none" lIns="0" tIns="0" rIns="0" bIns="0" rtlCol="0" anchor="t"/>
          <a:lstStyle/>
          <a:p>
            <a:pPr marL="0" indent="0" algn="l">
              <a:lnSpc>
                <a:spcPts val="2050"/>
              </a:lnSpc>
              <a:buNone/>
            </a:pPr>
            <a:r>
              <a:rPr lang="en-US" sz="1400" dirty="0">
                <a:solidFill>
                  <a:srgbClr val="405449"/>
                </a:solidFill>
                <a:latin typeface="Fraunces Light" pitchFamily="34" charset="0"/>
                <a:ea typeface="Fraunces Light" pitchFamily="34" charset="-122"/>
                <a:cs typeface="Fraunces Light" pitchFamily="34" charset="-120"/>
              </a:rPr>
              <a:t>03</a:t>
            </a:r>
            <a:endParaRPr lang="en-US" sz="1400" dirty="0"/>
          </a:p>
        </p:txBody>
      </p:sp>
      <p:sp>
        <p:nvSpPr>
          <p:cNvPr id="12" name="Shape 10"/>
          <p:cNvSpPr/>
          <p:nvPr/>
        </p:nvSpPr>
        <p:spPr>
          <a:xfrm>
            <a:off x="9497020" y="2135029"/>
            <a:ext cx="4073962" cy="22860"/>
          </a:xfrm>
          <a:prstGeom prst="rect">
            <a:avLst/>
          </a:prstGeom>
          <a:solidFill>
            <a:srgbClr val="438951"/>
          </a:solidFill>
          <a:ln/>
        </p:spPr>
      </p:sp>
      <p:sp>
        <p:nvSpPr>
          <p:cNvPr id="13" name="Text 11"/>
          <p:cNvSpPr/>
          <p:nvPr/>
        </p:nvSpPr>
        <p:spPr>
          <a:xfrm>
            <a:off x="9497020" y="2271355"/>
            <a:ext cx="2300168" cy="283369"/>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Graph Construction</a:t>
            </a:r>
            <a:endParaRPr lang="en-US" sz="1750" dirty="0"/>
          </a:p>
        </p:txBody>
      </p:sp>
      <p:sp>
        <p:nvSpPr>
          <p:cNvPr id="14" name="Text 12"/>
          <p:cNvSpPr/>
          <p:nvPr/>
        </p:nvSpPr>
        <p:spPr>
          <a:xfrm>
            <a:off x="9497020" y="2641640"/>
            <a:ext cx="4073962" cy="783078"/>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Represent patients, doctors, diseases, medications, lab tests as nodes</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Define relationships as edges</a:t>
            </a:r>
            <a:endParaRPr lang="en-US" sz="1400" dirty="0"/>
          </a:p>
        </p:txBody>
      </p:sp>
      <p:sp>
        <p:nvSpPr>
          <p:cNvPr id="15" name="Text 13"/>
          <p:cNvSpPr/>
          <p:nvPr/>
        </p:nvSpPr>
        <p:spPr>
          <a:xfrm>
            <a:off x="1059418" y="3654989"/>
            <a:ext cx="181213" cy="226576"/>
          </a:xfrm>
          <a:prstGeom prst="rect">
            <a:avLst/>
          </a:prstGeom>
          <a:noFill/>
          <a:ln/>
        </p:spPr>
        <p:txBody>
          <a:bodyPr wrap="none" lIns="0" tIns="0" rIns="0" bIns="0" rtlCol="0" anchor="t"/>
          <a:lstStyle/>
          <a:p>
            <a:pPr marL="0" indent="0" algn="l">
              <a:lnSpc>
                <a:spcPts val="2050"/>
              </a:lnSpc>
              <a:buNone/>
            </a:pPr>
            <a:r>
              <a:rPr lang="en-US" sz="1400" dirty="0">
                <a:solidFill>
                  <a:srgbClr val="405449"/>
                </a:solidFill>
                <a:latin typeface="Fraunces Light" pitchFamily="34" charset="0"/>
                <a:ea typeface="Fraunces Light" pitchFamily="34" charset="-122"/>
                <a:cs typeface="Fraunces Light" pitchFamily="34" charset="-120"/>
              </a:rPr>
              <a:t>04</a:t>
            </a:r>
            <a:endParaRPr lang="en-US" sz="1400" dirty="0"/>
          </a:p>
        </p:txBody>
      </p:sp>
      <p:sp>
        <p:nvSpPr>
          <p:cNvPr id="16" name="Shape 14"/>
          <p:cNvSpPr/>
          <p:nvPr/>
        </p:nvSpPr>
        <p:spPr>
          <a:xfrm>
            <a:off x="1059418" y="3940144"/>
            <a:ext cx="4073843" cy="22860"/>
          </a:xfrm>
          <a:prstGeom prst="rect">
            <a:avLst/>
          </a:prstGeom>
          <a:solidFill>
            <a:srgbClr val="438951"/>
          </a:solidFill>
          <a:ln/>
        </p:spPr>
      </p:sp>
      <p:sp>
        <p:nvSpPr>
          <p:cNvPr id="17" name="Text 15"/>
          <p:cNvSpPr/>
          <p:nvPr/>
        </p:nvSpPr>
        <p:spPr>
          <a:xfrm>
            <a:off x="1059418" y="4076471"/>
            <a:ext cx="4073843" cy="566738"/>
          </a:xfrm>
          <a:prstGeom prst="rect">
            <a:avLst/>
          </a:prstGeom>
          <a:noFill/>
          <a:ln/>
        </p:spPr>
        <p:txBody>
          <a:bodyPr wrap="squar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Structural Analysis using Graph Algorithms</a:t>
            </a:r>
            <a:endParaRPr lang="en-US" sz="1750" dirty="0"/>
          </a:p>
        </p:txBody>
      </p:sp>
      <p:sp>
        <p:nvSpPr>
          <p:cNvPr id="18" name="Text 16"/>
          <p:cNvSpPr/>
          <p:nvPr/>
        </p:nvSpPr>
        <p:spPr>
          <a:xfrm>
            <a:off x="1059418" y="4730124"/>
            <a:ext cx="4073843" cy="783078"/>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BFS / DFS for neighbourhood exploration</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Dijkstra for shortest path</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Centrality and clustering measures</a:t>
            </a:r>
            <a:endParaRPr lang="en-US" sz="1400" dirty="0"/>
          </a:p>
        </p:txBody>
      </p:sp>
      <p:sp>
        <p:nvSpPr>
          <p:cNvPr id="19" name="Text 17"/>
          <p:cNvSpPr/>
          <p:nvPr/>
        </p:nvSpPr>
        <p:spPr>
          <a:xfrm>
            <a:off x="5278160" y="3654989"/>
            <a:ext cx="181213" cy="226576"/>
          </a:xfrm>
          <a:prstGeom prst="rect">
            <a:avLst/>
          </a:prstGeom>
          <a:noFill/>
          <a:ln/>
        </p:spPr>
        <p:txBody>
          <a:bodyPr wrap="none" lIns="0" tIns="0" rIns="0" bIns="0" rtlCol="0" anchor="t"/>
          <a:lstStyle/>
          <a:p>
            <a:pPr marL="0" indent="0" algn="l">
              <a:lnSpc>
                <a:spcPts val="2050"/>
              </a:lnSpc>
              <a:buNone/>
            </a:pPr>
            <a:r>
              <a:rPr lang="en-US" sz="1400" dirty="0">
                <a:solidFill>
                  <a:srgbClr val="405449"/>
                </a:solidFill>
                <a:latin typeface="Fraunces Light" pitchFamily="34" charset="0"/>
                <a:ea typeface="Fraunces Light" pitchFamily="34" charset="-122"/>
                <a:cs typeface="Fraunces Light" pitchFamily="34" charset="-120"/>
              </a:rPr>
              <a:t>05</a:t>
            </a:r>
            <a:endParaRPr lang="en-US" sz="1400" dirty="0"/>
          </a:p>
        </p:txBody>
      </p:sp>
      <p:sp>
        <p:nvSpPr>
          <p:cNvPr id="20" name="Shape 18"/>
          <p:cNvSpPr/>
          <p:nvPr/>
        </p:nvSpPr>
        <p:spPr>
          <a:xfrm>
            <a:off x="5278160" y="3940144"/>
            <a:ext cx="4073962" cy="22860"/>
          </a:xfrm>
          <a:prstGeom prst="rect">
            <a:avLst/>
          </a:prstGeom>
          <a:solidFill>
            <a:srgbClr val="438951"/>
          </a:solidFill>
          <a:ln/>
        </p:spPr>
      </p:sp>
      <p:sp>
        <p:nvSpPr>
          <p:cNvPr id="21" name="Text 19"/>
          <p:cNvSpPr/>
          <p:nvPr/>
        </p:nvSpPr>
        <p:spPr>
          <a:xfrm>
            <a:off x="5278160" y="4076471"/>
            <a:ext cx="2343031" cy="283369"/>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Feature Engineering</a:t>
            </a:r>
            <a:endParaRPr lang="en-US" sz="1750" dirty="0"/>
          </a:p>
        </p:txBody>
      </p:sp>
      <p:sp>
        <p:nvSpPr>
          <p:cNvPr id="22" name="Text 20"/>
          <p:cNvSpPr/>
          <p:nvPr/>
        </p:nvSpPr>
        <p:spPr>
          <a:xfrm>
            <a:off x="5278160" y="4446755"/>
            <a:ext cx="4073962" cy="783078"/>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Generate graph-based structural features</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Generate node embeddings (Node2Vec / DeepWalk)</a:t>
            </a:r>
            <a:endParaRPr lang="en-US" sz="1400" dirty="0"/>
          </a:p>
        </p:txBody>
      </p:sp>
      <p:sp>
        <p:nvSpPr>
          <p:cNvPr id="23" name="Text 21"/>
          <p:cNvSpPr/>
          <p:nvPr/>
        </p:nvSpPr>
        <p:spPr>
          <a:xfrm>
            <a:off x="9497020" y="3654989"/>
            <a:ext cx="181213" cy="226576"/>
          </a:xfrm>
          <a:prstGeom prst="rect">
            <a:avLst/>
          </a:prstGeom>
          <a:noFill/>
          <a:ln/>
        </p:spPr>
        <p:txBody>
          <a:bodyPr wrap="none" lIns="0" tIns="0" rIns="0" bIns="0" rtlCol="0" anchor="t"/>
          <a:lstStyle/>
          <a:p>
            <a:pPr marL="0" indent="0" algn="l">
              <a:lnSpc>
                <a:spcPts val="2050"/>
              </a:lnSpc>
              <a:buNone/>
            </a:pPr>
            <a:r>
              <a:rPr lang="en-US" sz="1400" dirty="0">
                <a:solidFill>
                  <a:srgbClr val="405449"/>
                </a:solidFill>
                <a:latin typeface="Fraunces Light" pitchFamily="34" charset="0"/>
                <a:ea typeface="Fraunces Light" pitchFamily="34" charset="-122"/>
                <a:cs typeface="Fraunces Light" pitchFamily="34" charset="-120"/>
              </a:rPr>
              <a:t>06</a:t>
            </a:r>
            <a:endParaRPr lang="en-US" sz="1400" dirty="0"/>
          </a:p>
        </p:txBody>
      </p:sp>
      <p:sp>
        <p:nvSpPr>
          <p:cNvPr id="24" name="Shape 22"/>
          <p:cNvSpPr/>
          <p:nvPr/>
        </p:nvSpPr>
        <p:spPr>
          <a:xfrm>
            <a:off x="9497020" y="3940144"/>
            <a:ext cx="4073962" cy="22860"/>
          </a:xfrm>
          <a:prstGeom prst="rect">
            <a:avLst/>
          </a:prstGeom>
          <a:solidFill>
            <a:srgbClr val="438951"/>
          </a:solidFill>
          <a:ln/>
        </p:spPr>
      </p:sp>
      <p:sp>
        <p:nvSpPr>
          <p:cNvPr id="25" name="Text 23"/>
          <p:cNvSpPr/>
          <p:nvPr/>
        </p:nvSpPr>
        <p:spPr>
          <a:xfrm>
            <a:off x="9497020" y="4076471"/>
            <a:ext cx="2544128" cy="283369"/>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Learning &amp; Prediction</a:t>
            </a:r>
            <a:endParaRPr lang="en-US" sz="1750" dirty="0"/>
          </a:p>
        </p:txBody>
      </p:sp>
      <p:sp>
        <p:nvSpPr>
          <p:cNvPr id="26" name="Text 24"/>
          <p:cNvSpPr/>
          <p:nvPr/>
        </p:nvSpPr>
        <p:spPr>
          <a:xfrm>
            <a:off x="9497020" y="4446755"/>
            <a:ext cx="4073962" cy="522052"/>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Train traditional ML models</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Train Graph Neural Networks</a:t>
            </a:r>
            <a:endParaRPr lang="en-US" sz="1400" dirty="0"/>
          </a:p>
        </p:txBody>
      </p:sp>
      <p:sp>
        <p:nvSpPr>
          <p:cNvPr id="27" name="Text 25"/>
          <p:cNvSpPr/>
          <p:nvPr/>
        </p:nvSpPr>
        <p:spPr>
          <a:xfrm>
            <a:off x="1059418" y="5692835"/>
            <a:ext cx="181213" cy="226576"/>
          </a:xfrm>
          <a:prstGeom prst="rect">
            <a:avLst/>
          </a:prstGeom>
          <a:noFill/>
          <a:ln/>
        </p:spPr>
        <p:txBody>
          <a:bodyPr wrap="none" lIns="0" tIns="0" rIns="0" bIns="0" rtlCol="0" anchor="t"/>
          <a:lstStyle/>
          <a:p>
            <a:pPr marL="0" indent="0" algn="l">
              <a:lnSpc>
                <a:spcPts val="2050"/>
              </a:lnSpc>
              <a:buNone/>
            </a:pPr>
            <a:r>
              <a:rPr lang="en-US" sz="1400" dirty="0">
                <a:solidFill>
                  <a:srgbClr val="405449"/>
                </a:solidFill>
                <a:latin typeface="Fraunces Light" pitchFamily="34" charset="0"/>
                <a:ea typeface="Fraunces Light" pitchFamily="34" charset="-122"/>
                <a:cs typeface="Fraunces Light" pitchFamily="34" charset="-120"/>
              </a:rPr>
              <a:t>07</a:t>
            </a:r>
            <a:endParaRPr lang="en-US" sz="1400" dirty="0"/>
          </a:p>
        </p:txBody>
      </p:sp>
      <p:sp>
        <p:nvSpPr>
          <p:cNvPr id="28" name="Shape 26"/>
          <p:cNvSpPr/>
          <p:nvPr/>
        </p:nvSpPr>
        <p:spPr>
          <a:xfrm>
            <a:off x="1059418" y="5977990"/>
            <a:ext cx="12511564" cy="22860"/>
          </a:xfrm>
          <a:prstGeom prst="rect">
            <a:avLst/>
          </a:prstGeom>
          <a:solidFill>
            <a:srgbClr val="438951"/>
          </a:solidFill>
          <a:ln/>
        </p:spPr>
      </p:sp>
      <p:sp>
        <p:nvSpPr>
          <p:cNvPr id="29" name="Text 27"/>
          <p:cNvSpPr/>
          <p:nvPr/>
        </p:nvSpPr>
        <p:spPr>
          <a:xfrm>
            <a:off x="1059418" y="6114316"/>
            <a:ext cx="2930604" cy="283369"/>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Evaluation &amp; Comparison</a:t>
            </a:r>
            <a:endParaRPr lang="en-US" sz="1750" dirty="0"/>
          </a:p>
        </p:txBody>
      </p:sp>
      <p:sp>
        <p:nvSpPr>
          <p:cNvPr id="30" name="Text 28"/>
          <p:cNvSpPr/>
          <p:nvPr/>
        </p:nvSpPr>
        <p:spPr>
          <a:xfrm>
            <a:off x="1059418" y="6484601"/>
            <a:ext cx="12511564" cy="260985"/>
          </a:xfrm>
          <a:prstGeom prst="rect">
            <a:avLst/>
          </a:prstGeom>
          <a:noFill/>
          <a:ln/>
        </p:spPr>
        <p:txBody>
          <a:bodyPr wrap="none" lIns="0" tIns="0" rIns="0" bIns="0" rtlCol="0" anchor="t"/>
          <a:lstStyle/>
          <a:p>
            <a:pPr marL="0" indent="0" algn="l">
              <a:lnSpc>
                <a:spcPts val="2050"/>
              </a:lnSpc>
              <a:buNone/>
            </a:pPr>
            <a:r>
              <a:rPr lang="en-US" sz="1400" dirty="0">
                <a:solidFill>
                  <a:srgbClr val="405449"/>
                </a:solidFill>
                <a:latin typeface="Nobile" pitchFamily="34" charset="0"/>
                <a:ea typeface="Nobile" pitchFamily="34" charset="-122"/>
                <a:cs typeface="Nobile" pitchFamily="34" charset="-120"/>
              </a:rPr>
              <a:t>Compare accuracy of ML, embedding-based ML, and GNN models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A913EA0-108D-4BE3-B183-AE77CBF5C77B}"/>
              </a:ext>
            </a:extLst>
          </p:cNvPr>
          <p:cNvPicPr>
            <a:picLocks noChangeAspect="1"/>
          </p:cNvPicPr>
          <p:nvPr/>
        </p:nvPicPr>
        <p:blipFill>
          <a:blip r:embed="rId3"/>
          <a:stretch>
            <a:fillRect/>
          </a:stretch>
        </p:blipFill>
        <p:spPr>
          <a:xfrm>
            <a:off x="0" y="12208"/>
            <a:ext cx="14810381" cy="8232631"/>
          </a:xfrm>
          <a:prstGeom prst="rect">
            <a:avLst/>
          </a:prstGeom>
        </p:spPr>
      </p:pic>
      <p:sp>
        <p:nvSpPr>
          <p:cNvPr id="2" name="Text 0"/>
          <p:cNvSpPr/>
          <p:nvPr/>
        </p:nvSpPr>
        <p:spPr>
          <a:xfrm>
            <a:off x="793790" y="2080855"/>
            <a:ext cx="8387596"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Algorithms in Project Phases</a:t>
            </a:r>
            <a:endParaRPr lang="en-US" sz="4450" dirty="0"/>
          </a:p>
        </p:txBody>
      </p:sp>
      <p:sp>
        <p:nvSpPr>
          <p:cNvPr id="3" name="Shape 1"/>
          <p:cNvSpPr/>
          <p:nvPr/>
        </p:nvSpPr>
        <p:spPr>
          <a:xfrm>
            <a:off x="630436" y="3129796"/>
            <a:ext cx="6571417" cy="3018949"/>
          </a:xfrm>
          <a:prstGeom prst="roundRect">
            <a:avLst>
              <a:gd name="adj" fmla="val 10819"/>
            </a:avLst>
          </a:prstGeom>
          <a:solidFill>
            <a:srgbClr val="438951"/>
          </a:solidFill>
          <a:ln/>
        </p:spPr>
      </p:sp>
      <p:sp>
        <p:nvSpPr>
          <p:cNvPr id="4" name="Text 2"/>
          <p:cNvSpPr/>
          <p:nvPr/>
        </p:nvSpPr>
        <p:spPr>
          <a:xfrm>
            <a:off x="857250" y="3356610"/>
            <a:ext cx="4280892"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Fraunces Extra Bold" pitchFamily="34" charset="0"/>
                <a:ea typeface="Fraunces Extra Bold" pitchFamily="34" charset="-122"/>
                <a:cs typeface="Fraunces Extra Bold" pitchFamily="34" charset="-120"/>
              </a:rPr>
              <a:t>Literature Phase (Study Only)</a:t>
            </a:r>
            <a:endParaRPr lang="en-US" sz="2200" dirty="0"/>
          </a:p>
        </p:txBody>
      </p:sp>
      <p:sp>
        <p:nvSpPr>
          <p:cNvPr id="5" name="Text 3"/>
          <p:cNvSpPr/>
          <p:nvPr/>
        </p:nvSpPr>
        <p:spPr>
          <a:xfrm>
            <a:off x="857250" y="3937754"/>
            <a:ext cx="6117788" cy="1814623"/>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FFFFFF"/>
                </a:solidFill>
                <a:latin typeface="Nobile" pitchFamily="34" charset="0"/>
                <a:ea typeface="Nobile" pitchFamily="34" charset="-122"/>
                <a:cs typeface="Nobile" pitchFamily="34" charset="-120"/>
              </a:rPr>
              <a:t>BFS, DFS</a:t>
            </a:r>
            <a:endParaRPr lang="en-US" sz="1750" dirty="0"/>
          </a:p>
          <a:p>
            <a:pPr marL="342900" indent="-342900" algn="l">
              <a:lnSpc>
                <a:spcPts val="2850"/>
              </a:lnSpc>
              <a:buSzPct val="100000"/>
              <a:buChar char="•"/>
            </a:pPr>
            <a:r>
              <a:rPr lang="en-US" sz="1750" dirty="0">
                <a:solidFill>
                  <a:srgbClr val="FFFFFF"/>
                </a:solidFill>
                <a:latin typeface="Nobile" pitchFamily="34" charset="0"/>
                <a:ea typeface="Nobile" pitchFamily="34" charset="-122"/>
                <a:cs typeface="Nobile" pitchFamily="34" charset="-120"/>
              </a:rPr>
              <a:t>Dijkstra</a:t>
            </a:r>
            <a:endParaRPr lang="en-US" sz="1750" dirty="0"/>
          </a:p>
          <a:p>
            <a:pPr marL="342900" indent="-342900" algn="l">
              <a:lnSpc>
                <a:spcPts val="2850"/>
              </a:lnSpc>
              <a:buSzPct val="100000"/>
              <a:buChar char="•"/>
            </a:pPr>
            <a:r>
              <a:rPr lang="en-US" sz="1750" dirty="0">
                <a:solidFill>
                  <a:srgbClr val="FFFFFF"/>
                </a:solidFill>
                <a:latin typeface="Nobile" pitchFamily="34" charset="0"/>
                <a:ea typeface="Nobile" pitchFamily="34" charset="-122"/>
                <a:cs typeface="Nobile" pitchFamily="34" charset="-120"/>
              </a:rPr>
              <a:t>PageRank</a:t>
            </a:r>
            <a:endParaRPr lang="en-US" sz="1750" dirty="0"/>
          </a:p>
          <a:p>
            <a:pPr marL="342900" indent="-342900" algn="l">
              <a:lnSpc>
                <a:spcPts val="2850"/>
              </a:lnSpc>
              <a:buSzPct val="100000"/>
              <a:buChar char="•"/>
            </a:pPr>
            <a:r>
              <a:rPr lang="en-US" sz="1750" dirty="0">
                <a:solidFill>
                  <a:srgbClr val="FFFFFF"/>
                </a:solidFill>
                <a:latin typeface="Nobile" pitchFamily="34" charset="0"/>
                <a:ea typeface="Nobile" pitchFamily="34" charset="-122"/>
                <a:cs typeface="Nobile" pitchFamily="34" charset="-120"/>
              </a:rPr>
              <a:t>Node2Vec</a:t>
            </a:r>
            <a:endParaRPr lang="en-US" sz="1750" dirty="0"/>
          </a:p>
          <a:p>
            <a:pPr marL="342900" indent="-342900" algn="l">
              <a:lnSpc>
                <a:spcPts val="2850"/>
              </a:lnSpc>
              <a:buSzPct val="100000"/>
              <a:buChar char="•"/>
            </a:pPr>
            <a:r>
              <a:rPr lang="en-US" sz="1750" dirty="0">
                <a:solidFill>
                  <a:srgbClr val="FFFFFF"/>
                </a:solidFill>
                <a:latin typeface="Nobile" pitchFamily="34" charset="0"/>
                <a:ea typeface="Nobile" pitchFamily="34" charset="-122"/>
                <a:cs typeface="Nobile" pitchFamily="34" charset="-120"/>
              </a:rPr>
              <a:t>Graph Convolutional Network (GCN)</a:t>
            </a:r>
            <a:endParaRPr lang="en-US" sz="1750" dirty="0"/>
          </a:p>
        </p:txBody>
      </p:sp>
      <p:sp>
        <p:nvSpPr>
          <p:cNvPr id="6" name="Text 4"/>
          <p:cNvSpPr/>
          <p:nvPr/>
        </p:nvSpPr>
        <p:spPr>
          <a:xfrm>
            <a:off x="7599521" y="3356610"/>
            <a:ext cx="3375779" cy="354330"/>
          </a:xfrm>
          <a:prstGeom prst="rect">
            <a:avLst/>
          </a:prstGeom>
          <a:noFill/>
          <a:ln/>
        </p:spPr>
        <p:txBody>
          <a:bodyPr wrap="none" lIns="0" tIns="0" rIns="0" bIns="0" rtlCol="0" anchor="t"/>
          <a:lstStyle/>
          <a:p>
            <a:pPr marL="0" indent="0" algn="l">
              <a:lnSpc>
                <a:spcPts val="2750"/>
              </a:lnSpc>
              <a:buNone/>
            </a:pPr>
            <a:r>
              <a:rPr lang="en-US" sz="2200" b="1" dirty="0">
                <a:solidFill>
                  <a:srgbClr val="3B4540"/>
                </a:solidFill>
                <a:latin typeface="Fraunces Extra Bold" pitchFamily="34" charset="0"/>
                <a:ea typeface="Fraunces Extra Bold" pitchFamily="34" charset="-122"/>
                <a:cs typeface="Fraunces Extra Bold" pitchFamily="34" charset="-120"/>
              </a:rPr>
              <a:t>Experimentation Phase</a:t>
            </a:r>
            <a:endParaRPr lang="en-US" sz="2200" dirty="0"/>
          </a:p>
        </p:txBody>
      </p:sp>
      <p:sp>
        <p:nvSpPr>
          <p:cNvPr id="7" name="Text 5"/>
          <p:cNvSpPr/>
          <p:nvPr/>
        </p:nvSpPr>
        <p:spPr>
          <a:xfrm>
            <a:off x="7599521" y="3937754"/>
            <a:ext cx="6244709" cy="145169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BFS / DFS</a:t>
            </a:r>
            <a:endParaRPr lang="en-US" sz="1750" dirty="0"/>
          </a:p>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Dijkstra / Shortest Path</a:t>
            </a:r>
            <a:endParaRPr lang="en-US" sz="1750" dirty="0"/>
          </a:p>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Degree Centrality</a:t>
            </a:r>
            <a:endParaRPr lang="en-US" sz="1750" dirty="0"/>
          </a:p>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Clustering Coefficient</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9C5D9F6-E247-499F-A02C-0FE932358402}"/>
              </a:ext>
            </a:extLst>
          </p:cNvPr>
          <p:cNvPicPr>
            <a:picLocks noChangeAspect="1"/>
          </p:cNvPicPr>
          <p:nvPr/>
        </p:nvPicPr>
        <p:blipFill>
          <a:blip r:embed="rId3"/>
          <a:stretch>
            <a:fillRect/>
          </a:stretch>
        </p:blipFill>
        <p:spPr>
          <a:xfrm>
            <a:off x="0" y="0"/>
            <a:ext cx="14630400" cy="8229600"/>
          </a:xfrm>
          <a:prstGeom prst="rect">
            <a:avLst/>
          </a:prstGeom>
        </p:spPr>
      </p:pic>
      <p:sp>
        <p:nvSpPr>
          <p:cNvPr id="2" name="Text 0"/>
          <p:cNvSpPr/>
          <p:nvPr/>
        </p:nvSpPr>
        <p:spPr>
          <a:xfrm>
            <a:off x="793790" y="2296120"/>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Learning Models</a:t>
            </a:r>
            <a:endParaRPr lang="en-US" sz="4450" dirty="0"/>
          </a:p>
        </p:txBody>
      </p:sp>
      <p:sp>
        <p:nvSpPr>
          <p:cNvPr id="3" name="Shape 1"/>
          <p:cNvSpPr/>
          <p:nvPr/>
        </p:nvSpPr>
        <p:spPr>
          <a:xfrm>
            <a:off x="793790" y="3458528"/>
            <a:ext cx="4196358" cy="2474952"/>
          </a:xfrm>
          <a:prstGeom prst="roundRect">
            <a:avLst>
              <a:gd name="adj" fmla="val 8248"/>
            </a:avLst>
          </a:prstGeom>
          <a:solidFill>
            <a:srgbClr val="E8F3E8"/>
          </a:solidFill>
          <a:ln/>
        </p:spPr>
      </p:sp>
      <p:sp>
        <p:nvSpPr>
          <p:cNvPr id="4" name="Text 2"/>
          <p:cNvSpPr/>
          <p:nvPr/>
        </p:nvSpPr>
        <p:spPr>
          <a:xfrm>
            <a:off x="1020604" y="368534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Node Embeddings</a:t>
            </a:r>
            <a:endParaRPr lang="en-US" sz="2200" dirty="0"/>
          </a:p>
        </p:txBody>
      </p:sp>
      <p:sp>
        <p:nvSpPr>
          <p:cNvPr id="5" name="Text 3"/>
          <p:cNvSpPr/>
          <p:nvPr/>
        </p:nvSpPr>
        <p:spPr>
          <a:xfrm>
            <a:off x="1020604" y="4175760"/>
            <a:ext cx="3742730" cy="72584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Node2Vec</a:t>
            </a:r>
            <a:endParaRPr lang="en-US" sz="1750" dirty="0"/>
          </a:p>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DeepWalk</a:t>
            </a:r>
            <a:endParaRPr lang="en-US" sz="1750" dirty="0"/>
          </a:p>
        </p:txBody>
      </p:sp>
      <p:sp>
        <p:nvSpPr>
          <p:cNvPr id="6" name="Shape 4"/>
          <p:cNvSpPr/>
          <p:nvPr/>
        </p:nvSpPr>
        <p:spPr>
          <a:xfrm>
            <a:off x="5216962" y="3458528"/>
            <a:ext cx="4196358" cy="2474952"/>
          </a:xfrm>
          <a:prstGeom prst="roundRect">
            <a:avLst>
              <a:gd name="adj" fmla="val 8248"/>
            </a:avLst>
          </a:prstGeom>
          <a:solidFill>
            <a:srgbClr val="E8F3E8"/>
          </a:solidFill>
          <a:ln/>
        </p:spPr>
      </p:sp>
      <p:sp>
        <p:nvSpPr>
          <p:cNvPr id="7" name="Text 5"/>
          <p:cNvSpPr/>
          <p:nvPr/>
        </p:nvSpPr>
        <p:spPr>
          <a:xfrm>
            <a:off x="5443776" y="368534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Traditional ML</a:t>
            </a:r>
            <a:endParaRPr lang="en-US" sz="2200" dirty="0"/>
          </a:p>
        </p:txBody>
      </p:sp>
      <p:sp>
        <p:nvSpPr>
          <p:cNvPr id="8" name="Text 6"/>
          <p:cNvSpPr/>
          <p:nvPr/>
        </p:nvSpPr>
        <p:spPr>
          <a:xfrm>
            <a:off x="5443776" y="4175760"/>
            <a:ext cx="3742730" cy="1088774"/>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Logistic Regression</a:t>
            </a:r>
            <a:endParaRPr lang="en-US" sz="1750" dirty="0"/>
          </a:p>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Random Forest</a:t>
            </a:r>
            <a:endParaRPr lang="en-US" sz="1750" dirty="0"/>
          </a:p>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XGBoost</a:t>
            </a:r>
            <a:endParaRPr lang="en-US" sz="1750" dirty="0"/>
          </a:p>
        </p:txBody>
      </p:sp>
      <p:sp>
        <p:nvSpPr>
          <p:cNvPr id="9" name="Shape 7"/>
          <p:cNvSpPr/>
          <p:nvPr/>
        </p:nvSpPr>
        <p:spPr>
          <a:xfrm>
            <a:off x="9640133" y="3458528"/>
            <a:ext cx="4196358" cy="2474952"/>
          </a:xfrm>
          <a:prstGeom prst="roundRect">
            <a:avLst>
              <a:gd name="adj" fmla="val 8248"/>
            </a:avLst>
          </a:prstGeom>
          <a:solidFill>
            <a:srgbClr val="E8F3E8"/>
          </a:solidFill>
          <a:ln/>
        </p:spPr>
      </p:sp>
      <p:sp>
        <p:nvSpPr>
          <p:cNvPr id="10" name="Text 8"/>
          <p:cNvSpPr/>
          <p:nvPr/>
        </p:nvSpPr>
        <p:spPr>
          <a:xfrm>
            <a:off x="9866948" y="3685342"/>
            <a:ext cx="3395424"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Graph Neural Networks</a:t>
            </a:r>
            <a:endParaRPr lang="en-US" sz="2200" dirty="0"/>
          </a:p>
        </p:txBody>
      </p:sp>
      <p:sp>
        <p:nvSpPr>
          <p:cNvPr id="11" name="Text 9"/>
          <p:cNvSpPr/>
          <p:nvPr/>
        </p:nvSpPr>
        <p:spPr>
          <a:xfrm>
            <a:off x="9866948" y="4175760"/>
            <a:ext cx="3742730" cy="145169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Graph Convolutional Network (GCN)</a:t>
            </a:r>
            <a:endParaRPr lang="en-US" sz="1750" dirty="0"/>
          </a:p>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Graph Attention Network (GAT)</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538CCCCC-B876-43DC-B3A4-493B1384108A}"/>
              </a:ext>
            </a:extLst>
          </p:cNvPr>
          <p:cNvPicPr>
            <a:picLocks noChangeAspect="1"/>
          </p:cNvPicPr>
          <p:nvPr/>
        </p:nvPicPr>
        <p:blipFill>
          <a:blip r:embed="rId3"/>
          <a:stretch>
            <a:fillRect/>
          </a:stretch>
        </p:blipFill>
        <p:spPr>
          <a:xfrm>
            <a:off x="0" y="0"/>
            <a:ext cx="14630400" cy="8229600"/>
          </a:xfrm>
          <a:prstGeom prst="rect">
            <a:avLst/>
          </a:prstGeom>
        </p:spPr>
      </p:pic>
      <p:sp>
        <p:nvSpPr>
          <p:cNvPr id="2" name="Text 0"/>
          <p:cNvSpPr/>
          <p:nvPr/>
        </p:nvSpPr>
        <p:spPr>
          <a:xfrm>
            <a:off x="655320" y="675968"/>
            <a:ext cx="10290929"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Work Done So Far</a:t>
            </a:r>
            <a:endParaRPr lang="en-US" sz="4450" dirty="0"/>
          </a:p>
        </p:txBody>
      </p:sp>
      <p:sp>
        <p:nvSpPr>
          <p:cNvPr id="20" name="TextBox 19">
            <a:extLst>
              <a:ext uri="{FF2B5EF4-FFF2-40B4-BE49-F238E27FC236}">
                <a16:creationId xmlns:a16="http://schemas.microsoft.com/office/drawing/2014/main" id="{EB2E186A-EFF0-42A3-8553-6FAEE6E5A62C}"/>
              </a:ext>
            </a:extLst>
          </p:cNvPr>
          <p:cNvSpPr txBox="1"/>
          <p:nvPr/>
        </p:nvSpPr>
        <p:spPr>
          <a:xfrm>
            <a:off x="655320" y="1655861"/>
            <a:ext cx="12771120" cy="5262979"/>
          </a:xfrm>
          <a:prstGeom prst="rect">
            <a:avLst/>
          </a:prstGeom>
          <a:noFill/>
        </p:spPr>
        <p:txBody>
          <a:bodyPr wrap="square">
            <a:spAutoFit/>
          </a:bodyPr>
          <a:lstStyle/>
          <a:p>
            <a:pPr>
              <a:buFont typeface="Arial" panose="020B0604020202020204" pitchFamily="34" charset="0"/>
              <a:buChar char="•"/>
            </a:pPr>
            <a:r>
              <a:rPr lang="en-US" sz="2400" b="1" dirty="0"/>
              <a:t>Literature survey completed</a:t>
            </a:r>
            <a:br>
              <a:rPr lang="en-US" sz="2400" dirty="0"/>
            </a:br>
            <a:r>
              <a:rPr lang="en-US" sz="2400" dirty="0"/>
              <a:t>Comprehensive review of graph-based healthcare modeling, hybrid AI systems, and graph neural networks.</a:t>
            </a:r>
          </a:p>
          <a:p>
            <a:pPr>
              <a:buFont typeface="Arial" panose="020B0604020202020204" pitchFamily="34" charset="0"/>
              <a:buChar char="•"/>
            </a:pPr>
            <a:r>
              <a:rPr lang="en-US" sz="2400" b="1" dirty="0"/>
              <a:t>Problem statement finalized</a:t>
            </a:r>
            <a:br>
              <a:rPr lang="en-US" sz="2400" dirty="0"/>
            </a:br>
            <a:r>
              <a:rPr lang="en-US" sz="2400" dirty="0"/>
              <a:t>Clearly defined research gap focusing on relational modeling of healthcare data using graph algorithms and AI.</a:t>
            </a:r>
          </a:p>
          <a:p>
            <a:pPr>
              <a:buFont typeface="Arial" panose="020B0604020202020204" pitchFamily="34" charset="0"/>
              <a:buChar char="•"/>
            </a:pPr>
            <a:r>
              <a:rPr lang="en-US" sz="2400" b="1" dirty="0"/>
              <a:t>Project pipeline designed</a:t>
            </a:r>
            <a:br>
              <a:rPr lang="en-US" sz="2400" dirty="0"/>
            </a:br>
            <a:r>
              <a:rPr lang="en-US" sz="2400" dirty="0"/>
              <a:t>End-to-end workflow established, from data preprocessing and graph construction to learning and evaluation.</a:t>
            </a:r>
          </a:p>
          <a:p>
            <a:pPr>
              <a:buFont typeface="Arial" panose="020B0604020202020204" pitchFamily="34" charset="0"/>
              <a:buChar char="•"/>
            </a:pPr>
            <a:r>
              <a:rPr lang="en-US" sz="2400" b="1" dirty="0"/>
              <a:t>Algorithm stack selected</a:t>
            </a:r>
            <a:br>
              <a:rPr lang="en-US" sz="2400" dirty="0"/>
            </a:br>
            <a:r>
              <a:rPr lang="en-US" sz="2400" dirty="0"/>
              <a:t>Identification of classical graph algorithms, embedding techniques, traditional ML models, and GNN architectures.</a:t>
            </a:r>
          </a:p>
          <a:p>
            <a:pPr>
              <a:buFont typeface="Arial" panose="020B0604020202020204" pitchFamily="34" charset="0"/>
              <a:buChar char="•"/>
            </a:pPr>
            <a:r>
              <a:rPr lang="en-US" sz="2400" b="1" dirty="0"/>
              <a:t>Dataset identification in progress</a:t>
            </a:r>
            <a:br>
              <a:rPr lang="en-US" sz="2400" dirty="0"/>
            </a:br>
            <a:r>
              <a:rPr lang="en-US" sz="2400" dirty="0"/>
              <a:t>Evaluation of suitable healthcare datasets for graph-based representation and experimentation.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538CCCCC-B876-43DC-B3A4-493B1384108A}"/>
              </a:ext>
            </a:extLst>
          </p:cNvPr>
          <p:cNvPicPr>
            <a:picLocks noChangeAspect="1"/>
          </p:cNvPicPr>
          <p:nvPr/>
        </p:nvPicPr>
        <p:blipFill>
          <a:blip r:embed="rId3"/>
          <a:stretch>
            <a:fillRect/>
          </a:stretch>
        </p:blipFill>
        <p:spPr>
          <a:xfrm>
            <a:off x="0" y="0"/>
            <a:ext cx="14630400" cy="8229600"/>
          </a:xfrm>
          <a:prstGeom prst="rect">
            <a:avLst/>
          </a:prstGeom>
        </p:spPr>
      </p:pic>
      <p:sp>
        <p:nvSpPr>
          <p:cNvPr id="2" name="Text 0"/>
          <p:cNvSpPr/>
          <p:nvPr/>
        </p:nvSpPr>
        <p:spPr>
          <a:xfrm>
            <a:off x="655320" y="675968"/>
            <a:ext cx="10290929"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Results &amp; Discussion</a:t>
            </a:r>
            <a:endParaRPr lang="en-US" sz="4450" dirty="0"/>
          </a:p>
        </p:txBody>
      </p:sp>
      <p:sp>
        <p:nvSpPr>
          <p:cNvPr id="4" name="Rectangle 2">
            <a:extLst>
              <a:ext uri="{FF2B5EF4-FFF2-40B4-BE49-F238E27FC236}">
                <a16:creationId xmlns:a16="http://schemas.microsoft.com/office/drawing/2014/main" id="{C94E1D3B-3BED-4954-90F9-6A450DC64622}"/>
              </a:ext>
            </a:extLst>
          </p:cNvPr>
          <p:cNvSpPr>
            <a:spLocks noChangeArrowheads="1"/>
          </p:cNvSpPr>
          <p:nvPr/>
        </p:nvSpPr>
        <p:spPr bwMode="auto">
          <a:xfrm>
            <a:off x="548640" y="1696165"/>
            <a:ext cx="1331976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Literature-Driven Insights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Surveyed studies consistently indicate that graph-based models outperform traditional tabular approaches for relational healthcare data, especially in disease risk prediction tasks.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Pipeline Feasibility Assessment</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The designed end-to-end pipeline is theoretically sound and aligns with best practices reported in prior research, ensuring smooth transition from data preprocessing to learning and evaluation.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Algorithm Suitability Analysis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Selected graph algorithms and learning models are well-matched to the problem scope, balancing interpretability (classical graph measures) and predictive power (GNNs).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Expected Performance Trends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Based on existing benchmarks, embedding-based ML models and Graph Neural Networks are expected to yield higher accuracy than baseline ML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Current Limitations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Quantitative results are pending due to ongoing dataset identification and preprocessing; experimental validation will follow in subsequent phases.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Research Readiness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The groundwork established through literature analysis and design decisions positions the project for effective experimentation and meaningful comparative analysis.</a:t>
            </a:r>
          </a:p>
        </p:txBody>
      </p:sp>
    </p:spTree>
    <p:extLst>
      <p:ext uri="{BB962C8B-B14F-4D97-AF65-F5344CB8AC3E}">
        <p14:creationId xmlns:p14="http://schemas.microsoft.com/office/powerpoint/2010/main" val="1977885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538CCCCC-B876-43DC-B3A4-493B1384108A}"/>
              </a:ext>
            </a:extLst>
          </p:cNvPr>
          <p:cNvPicPr>
            <a:picLocks noChangeAspect="1"/>
          </p:cNvPicPr>
          <p:nvPr/>
        </p:nvPicPr>
        <p:blipFill>
          <a:blip r:embed="rId3"/>
          <a:stretch>
            <a:fillRect/>
          </a:stretch>
        </p:blipFill>
        <p:spPr>
          <a:xfrm>
            <a:off x="0" y="0"/>
            <a:ext cx="14630400" cy="8229600"/>
          </a:xfrm>
          <a:prstGeom prst="rect">
            <a:avLst/>
          </a:prstGeom>
        </p:spPr>
      </p:pic>
      <p:sp>
        <p:nvSpPr>
          <p:cNvPr id="2" name="Text 0"/>
          <p:cNvSpPr/>
          <p:nvPr/>
        </p:nvSpPr>
        <p:spPr>
          <a:xfrm>
            <a:off x="655320" y="675968"/>
            <a:ext cx="10290929"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Work To Be Done</a:t>
            </a:r>
            <a:endParaRPr lang="en-US" sz="4450" dirty="0"/>
          </a:p>
        </p:txBody>
      </p:sp>
      <p:sp>
        <p:nvSpPr>
          <p:cNvPr id="4" name="Rectangle 2">
            <a:extLst>
              <a:ext uri="{FF2B5EF4-FFF2-40B4-BE49-F238E27FC236}">
                <a16:creationId xmlns:a16="http://schemas.microsoft.com/office/drawing/2014/main" id="{C94E1D3B-3BED-4954-90F9-6A450DC64622}"/>
              </a:ext>
            </a:extLst>
          </p:cNvPr>
          <p:cNvSpPr>
            <a:spLocks noChangeArrowheads="1"/>
          </p:cNvSpPr>
          <p:nvPr/>
        </p:nvSpPr>
        <p:spPr bwMode="auto">
          <a:xfrm>
            <a:off x="548640" y="1511499"/>
            <a:ext cx="1331976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IN" sz="2400" b="1" dirty="0"/>
              <a:t>Finalize Dataset Selection &amp; Acquisition</a:t>
            </a:r>
            <a:br>
              <a:rPr lang="en-IN" sz="2400" dirty="0"/>
            </a:br>
            <a:r>
              <a:rPr lang="en-IN" sz="2400" dirty="0"/>
              <a:t>Identify and procure an appropriate healthcare dataset suitable for heterogeneous graph construction.</a:t>
            </a:r>
          </a:p>
          <a:p>
            <a:pPr>
              <a:buFont typeface="Arial" panose="020B0604020202020204" pitchFamily="34" charset="0"/>
              <a:buChar char="•"/>
            </a:pPr>
            <a:r>
              <a:rPr lang="en-IN" sz="2400" b="1" dirty="0"/>
              <a:t>Data </a:t>
            </a:r>
            <a:r>
              <a:rPr lang="en-IN" sz="2400" b="1" dirty="0" err="1"/>
              <a:t>Preprocessing</a:t>
            </a:r>
            <a:r>
              <a:rPr lang="en-IN" sz="2400" b="1" dirty="0"/>
              <a:t> &amp; Feature Engineering</a:t>
            </a:r>
            <a:br>
              <a:rPr lang="en-IN" sz="2400" dirty="0"/>
            </a:br>
            <a:r>
              <a:rPr lang="en-IN" sz="2400" dirty="0"/>
              <a:t>Clean, normalize, and encode patient attributes; handle missing values and inconsistencies.</a:t>
            </a:r>
          </a:p>
          <a:p>
            <a:pPr>
              <a:buFont typeface="Arial" panose="020B0604020202020204" pitchFamily="34" charset="0"/>
              <a:buChar char="•"/>
            </a:pPr>
            <a:r>
              <a:rPr lang="en-IN" sz="2400" b="1" dirty="0"/>
              <a:t>Graph Construction &amp; Validation</a:t>
            </a:r>
            <a:br>
              <a:rPr lang="en-IN" sz="2400" dirty="0"/>
            </a:br>
            <a:r>
              <a:rPr lang="en-IN" sz="2400" dirty="0"/>
              <a:t>Model healthcare entities and relationships as a graph; validate structural correctness and connectivity.</a:t>
            </a:r>
          </a:p>
          <a:p>
            <a:pPr>
              <a:buFont typeface="Arial" panose="020B0604020202020204" pitchFamily="34" charset="0"/>
              <a:buChar char="•"/>
            </a:pPr>
            <a:r>
              <a:rPr lang="en-IN" sz="2400" b="1" dirty="0"/>
              <a:t>Implementation of Graph Algorithms</a:t>
            </a:r>
            <a:br>
              <a:rPr lang="en-IN" sz="2400" dirty="0"/>
            </a:br>
            <a:r>
              <a:rPr lang="en-IN" sz="2400" dirty="0"/>
              <a:t>Apply BFS, DFS, shortest path, centrality, and clustering algorithms for structural analysis.</a:t>
            </a:r>
          </a:p>
          <a:p>
            <a:pPr>
              <a:buFont typeface="Arial" panose="020B0604020202020204" pitchFamily="34" charset="0"/>
              <a:buChar char="•"/>
            </a:pPr>
            <a:r>
              <a:rPr lang="en-IN" sz="2400" b="1" dirty="0"/>
              <a:t>Embedding &amp; Representation Learning</a:t>
            </a:r>
            <a:br>
              <a:rPr lang="en-IN" sz="2400" dirty="0"/>
            </a:br>
            <a:r>
              <a:rPr lang="en-IN" sz="2400" dirty="0"/>
              <a:t>Generate node embeddings using Node2Vec / </a:t>
            </a:r>
            <a:r>
              <a:rPr lang="en-IN" sz="2400" dirty="0" err="1"/>
              <a:t>DeepWalk</a:t>
            </a:r>
            <a:r>
              <a:rPr lang="en-IN" sz="2400" dirty="0"/>
              <a:t> for downstream learning tasks.</a:t>
            </a:r>
          </a:p>
          <a:p>
            <a:pPr>
              <a:buFont typeface="Arial" panose="020B0604020202020204" pitchFamily="34" charset="0"/>
              <a:buChar char="•"/>
            </a:pPr>
            <a:r>
              <a:rPr lang="en-IN" sz="2400" b="1" dirty="0"/>
              <a:t>Model Training &amp; Evaluation</a:t>
            </a:r>
            <a:br>
              <a:rPr lang="en-IN" sz="2400" dirty="0"/>
            </a:br>
            <a:r>
              <a:rPr lang="en-IN" sz="2400" dirty="0"/>
              <a:t>Train baseline ML models and Graph Neural Networks; compare performance across approaches.</a:t>
            </a:r>
          </a:p>
          <a:p>
            <a:pPr>
              <a:buFont typeface="Arial" panose="020B0604020202020204" pitchFamily="34" charset="0"/>
              <a:buChar char="•"/>
            </a:pPr>
            <a:r>
              <a:rPr lang="en-IN" sz="2400" b="1" dirty="0"/>
              <a:t>Result Analysis &amp; Discussion</a:t>
            </a:r>
            <a:br>
              <a:rPr lang="en-IN" sz="2400" dirty="0"/>
            </a:br>
            <a:r>
              <a:rPr lang="en-IN" sz="2400" dirty="0" err="1"/>
              <a:t>Analyze</a:t>
            </a:r>
            <a:r>
              <a:rPr lang="en-IN" sz="2400" dirty="0"/>
              <a:t> quantitative results, interpret model </a:t>
            </a:r>
            <a:r>
              <a:rPr lang="en-IN" sz="2400" dirty="0" err="1"/>
              <a:t>behavior</a:t>
            </a:r>
            <a:r>
              <a:rPr lang="en-IN" sz="2400" dirty="0"/>
              <a:t>, and relate findings to literature.</a:t>
            </a:r>
          </a:p>
          <a:p>
            <a:pPr>
              <a:buFont typeface="Arial" panose="020B0604020202020204" pitchFamily="34" charset="0"/>
              <a:buChar char="•"/>
            </a:pPr>
            <a:r>
              <a:rPr lang="en-IN" sz="2400" b="1" dirty="0"/>
              <a:t>Documentation &amp; Reporting</a:t>
            </a:r>
            <a:br>
              <a:rPr lang="en-IN" sz="2400" dirty="0"/>
            </a:br>
            <a:r>
              <a:rPr lang="en-IN" sz="2400" dirty="0"/>
              <a:t>Compile results into a structured report and prepare material for final presentation.</a:t>
            </a:r>
          </a:p>
        </p:txBody>
      </p:sp>
    </p:spTree>
    <p:extLst>
      <p:ext uri="{BB962C8B-B14F-4D97-AF65-F5344CB8AC3E}">
        <p14:creationId xmlns:p14="http://schemas.microsoft.com/office/powerpoint/2010/main" val="2396202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D097E0-DAB6-4CE8-9756-DBECFAEEE027}"/>
              </a:ext>
            </a:extLst>
          </p:cNvPr>
          <p:cNvPicPr>
            <a:picLocks noChangeAspect="1"/>
          </p:cNvPicPr>
          <p:nvPr/>
        </p:nvPicPr>
        <p:blipFill>
          <a:blip r:embed="rId2"/>
          <a:stretch>
            <a:fillRect/>
          </a:stretch>
        </p:blipFill>
        <p:spPr>
          <a:xfrm>
            <a:off x="0" y="-3032"/>
            <a:ext cx="14810381" cy="8232631"/>
          </a:xfrm>
          <a:prstGeom prst="rect">
            <a:avLst/>
          </a:prstGeom>
        </p:spPr>
      </p:pic>
      <p:sp>
        <p:nvSpPr>
          <p:cNvPr id="3" name="Title 1">
            <a:extLst>
              <a:ext uri="{FF2B5EF4-FFF2-40B4-BE49-F238E27FC236}">
                <a16:creationId xmlns:a16="http://schemas.microsoft.com/office/drawing/2014/main" id="{38432069-7C42-4092-A980-226452B45C6D}"/>
              </a:ext>
            </a:extLst>
          </p:cNvPr>
          <p:cNvSpPr txBox="1">
            <a:spLocks/>
          </p:cNvSpPr>
          <p:nvPr/>
        </p:nvSpPr>
        <p:spPr>
          <a:xfrm>
            <a:off x="-339238" y="503238"/>
            <a:ext cx="12291060" cy="10969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Contribution of each student team member </a:t>
            </a:r>
          </a:p>
        </p:txBody>
      </p:sp>
      <p:sp>
        <p:nvSpPr>
          <p:cNvPr id="4" name="Content Placeholder 2">
            <a:extLst>
              <a:ext uri="{FF2B5EF4-FFF2-40B4-BE49-F238E27FC236}">
                <a16:creationId xmlns:a16="http://schemas.microsoft.com/office/drawing/2014/main" id="{CB5003D4-C1F8-4BFD-8F0F-EA494285EAAC}"/>
              </a:ext>
            </a:extLst>
          </p:cNvPr>
          <p:cNvSpPr txBox="1">
            <a:spLocks/>
          </p:cNvSpPr>
          <p:nvPr/>
        </p:nvSpPr>
        <p:spPr>
          <a:xfrm>
            <a:off x="1923287" y="1600200"/>
            <a:ext cx="5041393" cy="5852160"/>
          </a:xfrm>
          <a:prstGeom prst="rect">
            <a:avLst/>
          </a:prstGeom>
          <a:solidFill>
            <a:schemeClr val="accent1">
              <a:alpha val="50000"/>
            </a:schemeClr>
          </a:solidFill>
        </p:spPr>
        <p:style>
          <a:lnRef idx="0">
            <a:scrgbClr r="0" g="0" b="0"/>
          </a:lnRef>
          <a:fillRef idx="0">
            <a:scrgbClr r="0" g="0" b="0"/>
          </a:fillRef>
          <a:effectRef idx="0">
            <a:scrgbClr r="0" g="0" b="0"/>
          </a:effectRef>
          <a:fontRef idx="minor">
            <a:schemeClr val="lt1"/>
          </a:fontRef>
        </p:style>
        <p:txBody>
          <a:bodyPr/>
          <a:lstStyle>
            <a:lvl1pPr marL="342900" indent="-342900" algn="l" defTabSz="914400" rtl="0" eaLnBrk="1" latinLnBrk="0" hangingPunct="1">
              <a:spcBef>
                <a:spcPct val="20000"/>
              </a:spcBef>
              <a:buFont typeface="Arial" pitchFamily="34" charset="0"/>
              <a:buChar char="•"/>
              <a:defRPr sz="3200" kern="1200">
                <a:solidFill>
                  <a:schemeClr val="lt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lt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lt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r>
              <a:rPr lang="en-US" dirty="0"/>
              <a:t>Contribution of Yash Sharma</a:t>
            </a:r>
          </a:p>
        </p:txBody>
      </p:sp>
      <p:sp>
        <p:nvSpPr>
          <p:cNvPr id="5" name="Content Placeholder 6">
            <a:extLst>
              <a:ext uri="{FF2B5EF4-FFF2-40B4-BE49-F238E27FC236}">
                <a16:creationId xmlns:a16="http://schemas.microsoft.com/office/drawing/2014/main" id="{D2D643B4-A1DE-4556-977A-D7B9E9F6023F}"/>
              </a:ext>
            </a:extLst>
          </p:cNvPr>
          <p:cNvSpPr txBox="1">
            <a:spLocks/>
          </p:cNvSpPr>
          <p:nvPr/>
        </p:nvSpPr>
        <p:spPr>
          <a:xfrm>
            <a:off x="8214361" y="1600200"/>
            <a:ext cx="5041394" cy="5852160"/>
          </a:xfrm>
          <a:prstGeom prst="rect">
            <a:avLst/>
          </a:prstGeom>
          <a:solidFill>
            <a:schemeClr val="accent2">
              <a:alpha val="50000"/>
            </a:schemeClr>
          </a:solidFill>
        </p:spPr>
        <p:style>
          <a:lnRef idx="0">
            <a:scrgbClr r="0" g="0" b="0"/>
          </a:lnRef>
          <a:fillRef idx="0">
            <a:scrgbClr r="0" g="0" b="0"/>
          </a:fillRef>
          <a:effectRef idx="0">
            <a:scrgbClr r="0" g="0" b="0"/>
          </a:effectRef>
          <a:fontRef idx="minor">
            <a:schemeClr val="lt1"/>
          </a:fontRef>
        </p:style>
        <p:txBody>
          <a:bodyPr/>
          <a:lstStyle>
            <a:lvl1pPr marL="342900" indent="-342900" algn="l" defTabSz="914400" rtl="0" eaLnBrk="1" latinLnBrk="0" hangingPunct="1">
              <a:spcBef>
                <a:spcPct val="20000"/>
              </a:spcBef>
              <a:buFont typeface="Arial" pitchFamily="34" charset="0"/>
              <a:buChar char="•"/>
              <a:defRPr sz="3200" kern="1200">
                <a:solidFill>
                  <a:schemeClr val="lt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lt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lt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r>
              <a:rPr lang="en-US" dirty="0"/>
              <a:t>Contribution of </a:t>
            </a:r>
            <a:r>
              <a:rPr lang="en-US" dirty="0" err="1"/>
              <a:t>Yatharth</a:t>
            </a:r>
            <a:r>
              <a:rPr lang="en-US" dirty="0"/>
              <a:t> Garg</a:t>
            </a:r>
          </a:p>
          <a:p>
            <a:pPr marL="0" indent="0">
              <a:buFont typeface="Arial" pitchFamily="34" charset="0"/>
              <a:buNone/>
            </a:pPr>
            <a:endParaRPr lang="en-IN" dirty="0"/>
          </a:p>
          <a:p>
            <a:pPr marL="0" indent="0">
              <a:buFont typeface="Arial" pitchFamily="34" charset="0"/>
              <a:buNone/>
            </a:pPr>
            <a:endParaRPr lang="en-IN" dirty="0"/>
          </a:p>
        </p:txBody>
      </p:sp>
      <p:sp>
        <p:nvSpPr>
          <p:cNvPr id="6" name="Rectangle 1">
            <a:extLst>
              <a:ext uri="{FF2B5EF4-FFF2-40B4-BE49-F238E27FC236}">
                <a16:creationId xmlns:a16="http://schemas.microsoft.com/office/drawing/2014/main" id="{3B709071-F700-44F4-A4E7-76DFFD0AFC0C}"/>
              </a:ext>
            </a:extLst>
          </p:cNvPr>
          <p:cNvSpPr>
            <a:spLocks noChangeArrowheads="1"/>
          </p:cNvSpPr>
          <p:nvPr/>
        </p:nvSpPr>
        <p:spPr bwMode="auto">
          <a:xfrm>
            <a:off x="2151007" y="2620268"/>
            <a:ext cx="4585952"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Heterogenous Graph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Data Acquiring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Applying Graph Algorithms (BFS/DFS and Dijkstra only)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Use Algorithms to do clinical research (ML - LR, PCA with </a:t>
            </a:r>
            <a:r>
              <a:rPr kumimoji="0" lang="en-US" altLang="en-US" sz="2800" b="0" i="0" u="none" strike="noStrike" cap="none" normalizeH="0" baseline="0" dirty="0" err="1">
                <a:ln>
                  <a:noFill/>
                </a:ln>
                <a:solidFill>
                  <a:schemeClr val="tx1"/>
                </a:solidFill>
                <a:effectLst/>
                <a:latin typeface="Arial" panose="020B0604020202020204" pitchFamily="34" charset="0"/>
              </a:rPr>
              <a:t>kNN</a:t>
            </a:r>
            <a:r>
              <a:rPr kumimoji="0" lang="en-US" altLang="en-US" sz="2800" b="0" i="0" u="none" strike="noStrike" cap="none" normalizeH="0" baseline="0" dirty="0">
                <a:ln>
                  <a:noFill/>
                </a:ln>
                <a:solidFill>
                  <a:schemeClr val="tx1"/>
                </a:solidFill>
                <a:effectLst/>
                <a:latin typeface="Arial" panose="020B0604020202020204" pitchFamily="34" charset="0"/>
              </a:rPr>
              <a:t>, GCN)</a:t>
            </a:r>
          </a:p>
        </p:txBody>
      </p:sp>
      <p:sp>
        <p:nvSpPr>
          <p:cNvPr id="7" name="Rectangle 3">
            <a:extLst>
              <a:ext uri="{FF2B5EF4-FFF2-40B4-BE49-F238E27FC236}">
                <a16:creationId xmlns:a16="http://schemas.microsoft.com/office/drawing/2014/main" id="{5CE48EB1-BF59-462C-9885-0C62F72BE7AD}"/>
              </a:ext>
            </a:extLst>
          </p:cNvPr>
          <p:cNvSpPr>
            <a:spLocks noChangeArrowheads="1"/>
          </p:cNvSpPr>
          <p:nvPr/>
        </p:nvSpPr>
        <p:spPr bwMode="auto">
          <a:xfrm>
            <a:off x="8320147" y="2930580"/>
            <a:ext cx="482982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Prediction Results - Unclear dependent on dataset.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Comparative Analysis (Which algorithm is the best at giving most accurate results.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Discussion and Limitations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Research Paper.</a:t>
            </a:r>
          </a:p>
        </p:txBody>
      </p:sp>
    </p:spTree>
    <p:extLst>
      <p:ext uri="{BB962C8B-B14F-4D97-AF65-F5344CB8AC3E}">
        <p14:creationId xmlns:p14="http://schemas.microsoft.com/office/powerpoint/2010/main" val="2024915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350526"/>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Work Done So Far</a:t>
            </a:r>
            <a:endParaRPr lang="en-US" sz="4450" dirty="0"/>
          </a:p>
        </p:txBody>
      </p:sp>
      <p:sp>
        <p:nvSpPr>
          <p:cNvPr id="3" name="Shape 1"/>
          <p:cNvSpPr/>
          <p:nvPr/>
        </p:nvSpPr>
        <p:spPr>
          <a:xfrm>
            <a:off x="793790" y="2512933"/>
            <a:ext cx="510302" cy="510302"/>
          </a:xfrm>
          <a:prstGeom prst="roundRect">
            <a:avLst>
              <a:gd name="adj" fmla="val 40005"/>
            </a:avLst>
          </a:prstGeom>
          <a:solidFill>
            <a:srgbClr val="E8F3E8"/>
          </a:solidFill>
          <a:ln/>
        </p:spPr>
      </p:sp>
      <p:sp>
        <p:nvSpPr>
          <p:cNvPr id="4" name="Text 2"/>
          <p:cNvSpPr/>
          <p:nvPr/>
        </p:nvSpPr>
        <p:spPr>
          <a:xfrm>
            <a:off x="1530906" y="2590800"/>
            <a:ext cx="4081939"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Literature survey completed</a:t>
            </a:r>
            <a:endParaRPr lang="en-US" sz="2200" dirty="0"/>
          </a:p>
        </p:txBody>
      </p:sp>
      <p:sp>
        <p:nvSpPr>
          <p:cNvPr id="5" name="Shape 3"/>
          <p:cNvSpPr/>
          <p:nvPr/>
        </p:nvSpPr>
        <p:spPr>
          <a:xfrm>
            <a:off x="793790" y="3476863"/>
            <a:ext cx="510302" cy="510302"/>
          </a:xfrm>
          <a:prstGeom prst="roundRect">
            <a:avLst>
              <a:gd name="adj" fmla="val 40005"/>
            </a:avLst>
          </a:prstGeom>
          <a:solidFill>
            <a:srgbClr val="E8F3E8"/>
          </a:solidFill>
          <a:ln/>
        </p:spPr>
      </p:sp>
      <p:sp>
        <p:nvSpPr>
          <p:cNvPr id="6" name="Text 4"/>
          <p:cNvSpPr/>
          <p:nvPr/>
        </p:nvSpPr>
        <p:spPr>
          <a:xfrm>
            <a:off x="1530906" y="3554730"/>
            <a:ext cx="4088130"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Problem statement finalised</a:t>
            </a:r>
            <a:endParaRPr lang="en-US" sz="2200" dirty="0"/>
          </a:p>
        </p:txBody>
      </p:sp>
      <p:sp>
        <p:nvSpPr>
          <p:cNvPr id="7" name="Shape 5"/>
          <p:cNvSpPr/>
          <p:nvPr/>
        </p:nvSpPr>
        <p:spPr>
          <a:xfrm>
            <a:off x="793790" y="4440793"/>
            <a:ext cx="510302" cy="510302"/>
          </a:xfrm>
          <a:prstGeom prst="roundRect">
            <a:avLst>
              <a:gd name="adj" fmla="val 40005"/>
            </a:avLst>
          </a:prstGeom>
          <a:solidFill>
            <a:srgbClr val="E8F3E8"/>
          </a:solidFill>
          <a:ln/>
        </p:spPr>
      </p:sp>
      <p:sp>
        <p:nvSpPr>
          <p:cNvPr id="8" name="Text 6"/>
          <p:cNvSpPr/>
          <p:nvPr/>
        </p:nvSpPr>
        <p:spPr>
          <a:xfrm>
            <a:off x="1530906" y="451866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Pipeline designed</a:t>
            </a:r>
            <a:endParaRPr lang="en-US" sz="2200" dirty="0"/>
          </a:p>
        </p:txBody>
      </p:sp>
      <p:sp>
        <p:nvSpPr>
          <p:cNvPr id="9" name="Shape 7"/>
          <p:cNvSpPr/>
          <p:nvPr/>
        </p:nvSpPr>
        <p:spPr>
          <a:xfrm>
            <a:off x="793790" y="5404723"/>
            <a:ext cx="510302" cy="510302"/>
          </a:xfrm>
          <a:prstGeom prst="roundRect">
            <a:avLst>
              <a:gd name="adj" fmla="val 40005"/>
            </a:avLst>
          </a:prstGeom>
          <a:solidFill>
            <a:srgbClr val="E8F3E8"/>
          </a:solidFill>
          <a:ln/>
        </p:spPr>
      </p:sp>
      <p:sp>
        <p:nvSpPr>
          <p:cNvPr id="10" name="Text 8"/>
          <p:cNvSpPr/>
          <p:nvPr/>
        </p:nvSpPr>
        <p:spPr>
          <a:xfrm>
            <a:off x="1530906" y="5482590"/>
            <a:ext cx="356294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Algorithm stack selected</a:t>
            </a:r>
            <a:endParaRPr lang="en-US" sz="2200" dirty="0"/>
          </a:p>
        </p:txBody>
      </p:sp>
      <p:sp>
        <p:nvSpPr>
          <p:cNvPr id="11" name="Shape 9"/>
          <p:cNvSpPr/>
          <p:nvPr/>
        </p:nvSpPr>
        <p:spPr>
          <a:xfrm>
            <a:off x="793790" y="6368653"/>
            <a:ext cx="510302" cy="510302"/>
          </a:xfrm>
          <a:prstGeom prst="roundRect">
            <a:avLst>
              <a:gd name="adj" fmla="val 40005"/>
            </a:avLst>
          </a:prstGeom>
          <a:solidFill>
            <a:srgbClr val="E8F3E8"/>
          </a:solidFill>
          <a:ln/>
        </p:spPr>
      </p:sp>
      <p:sp>
        <p:nvSpPr>
          <p:cNvPr id="12" name="Text 10"/>
          <p:cNvSpPr/>
          <p:nvPr/>
        </p:nvSpPr>
        <p:spPr>
          <a:xfrm>
            <a:off x="1530906" y="6446520"/>
            <a:ext cx="4823460"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Dataset identification in progress</a:t>
            </a:r>
            <a:endParaRPr lang="en-US" sz="2200" dirty="0"/>
          </a:p>
        </p:txBody>
      </p:sp>
      <p:pic>
        <p:nvPicPr>
          <p:cNvPr id="13" name="Picture 12">
            <a:extLst>
              <a:ext uri="{FF2B5EF4-FFF2-40B4-BE49-F238E27FC236}">
                <a16:creationId xmlns:a16="http://schemas.microsoft.com/office/drawing/2014/main" id="{378E1207-5512-47B9-9521-8A819796A890}"/>
              </a:ext>
            </a:extLst>
          </p:cNvPr>
          <p:cNvPicPr>
            <a:picLocks noChangeAspect="1"/>
          </p:cNvPicPr>
          <p:nvPr/>
        </p:nvPicPr>
        <p:blipFill>
          <a:blip r:embed="rId3"/>
          <a:stretch>
            <a:fillRect/>
          </a:stretch>
        </p:blipFill>
        <p:spPr>
          <a:xfrm>
            <a:off x="0" y="0"/>
            <a:ext cx="14630400" cy="8178800"/>
          </a:xfrm>
          <a:prstGeom prst="rect">
            <a:avLst/>
          </a:prstGeom>
        </p:spPr>
      </p:pic>
      <p:pic>
        <p:nvPicPr>
          <p:cNvPr id="14" name="Picture 13">
            <a:extLst>
              <a:ext uri="{FF2B5EF4-FFF2-40B4-BE49-F238E27FC236}">
                <a16:creationId xmlns:a16="http://schemas.microsoft.com/office/drawing/2014/main" id="{29C90DB0-6501-49A0-826A-C5CC20DF8306}"/>
              </a:ext>
            </a:extLst>
          </p:cNvPr>
          <p:cNvPicPr>
            <a:picLocks noChangeAspect="1"/>
          </p:cNvPicPr>
          <p:nvPr/>
        </p:nvPicPr>
        <p:blipFill>
          <a:blip r:embed="rId4"/>
          <a:stretch>
            <a:fillRect/>
          </a:stretch>
        </p:blipFill>
        <p:spPr>
          <a:xfrm>
            <a:off x="0" y="-3032"/>
            <a:ext cx="14810381" cy="8232631"/>
          </a:xfrm>
          <a:prstGeom prst="rect">
            <a:avLst/>
          </a:prstGeom>
        </p:spPr>
      </p:pic>
      <p:sp>
        <p:nvSpPr>
          <p:cNvPr id="15" name="Title 1">
            <a:extLst>
              <a:ext uri="{FF2B5EF4-FFF2-40B4-BE49-F238E27FC236}">
                <a16:creationId xmlns:a16="http://schemas.microsoft.com/office/drawing/2014/main" id="{A2D9D6E4-0922-4BED-960D-69E8C30C4A14}"/>
              </a:ext>
            </a:extLst>
          </p:cNvPr>
          <p:cNvSpPr txBox="1">
            <a:spLocks/>
          </p:cNvSpPr>
          <p:nvPr/>
        </p:nvSpPr>
        <p:spPr>
          <a:xfrm>
            <a:off x="504369" y="731520"/>
            <a:ext cx="12623441" cy="10969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UROP Progress( Highlight your status of completion)</a:t>
            </a:r>
          </a:p>
        </p:txBody>
      </p:sp>
      <p:graphicFrame>
        <p:nvGraphicFramePr>
          <p:cNvPr id="16" name="Content Placeholder 3" descr="Stacked List showing 4 groups arranged from left to right with task descriptions under each group">
            <a:extLst>
              <a:ext uri="{FF2B5EF4-FFF2-40B4-BE49-F238E27FC236}">
                <a16:creationId xmlns:a16="http://schemas.microsoft.com/office/drawing/2014/main" id="{9D85D12E-6F56-4B2A-8488-A792E2F8E407}"/>
              </a:ext>
            </a:extLst>
          </p:cNvPr>
          <p:cNvGraphicFramePr>
            <a:graphicFrameLocks/>
          </p:cNvGraphicFramePr>
          <p:nvPr>
            <p:extLst>
              <p:ext uri="{D42A27DB-BD31-4B8C-83A1-F6EECF244321}">
                <p14:modId xmlns:p14="http://schemas.microsoft.com/office/powerpoint/2010/main" val="1478789053"/>
              </p:ext>
            </p:extLst>
          </p:nvPr>
        </p:nvGraphicFramePr>
        <p:xfrm>
          <a:off x="1463040" y="1676400"/>
          <a:ext cx="12466320" cy="583692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8F77CC10-3539-4481-8563-C98C7530F004}"/>
              </a:ext>
            </a:extLst>
          </p:cNvPr>
          <p:cNvPicPr>
            <a:picLocks noChangeAspect="1"/>
          </p:cNvPicPr>
          <p:nvPr/>
        </p:nvPicPr>
        <p:blipFill>
          <a:blip r:embed="rId2"/>
          <a:stretch>
            <a:fillRect/>
          </a:stretch>
        </p:blipFill>
        <p:spPr>
          <a:xfrm>
            <a:off x="0" y="8703"/>
            <a:ext cx="14810381" cy="8232631"/>
          </a:xfrm>
          <a:prstGeom prst="rect">
            <a:avLst/>
          </a:prstGeom>
        </p:spPr>
      </p:pic>
      <p:sp>
        <p:nvSpPr>
          <p:cNvPr id="25" name="Title 1">
            <a:extLst>
              <a:ext uri="{FF2B5EF4-FFF2-40B4-BE49-F238E27FC236}">
                <a16:creationId xmlns:a16="http://schemas.microsoft.com/office/drawing/2014/main" id="{C90F77EC-01DE-4924-854C-3C973D407B94}"/>
              </a:ext>
            </a:extLst>
          </p:cNvPr>
          <p:cNvSpPr txBox="1">
            <a:spLocks/>
          </p:cNvSpPr>
          <p:nvPr/>
        </p:nvSpPr>
        <p:spPr>
          <a:xfrm>
            <a:off x="-2665482" y="109815"/>
            <a:ext cx="9980682" cy="10969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5400" dirty="0"/>
              <a:t>References</a:t>
            </a:r>
            <a:endParaRPr lang="en-IN" sz="5400" dirty="0"/>
          </a:p>
        </p:txBody>
      </p:sp>
      <p:sp>
        <p:nvSpPr>
          <p:cNvPr id="9" name="TextBox 8">
            <a:extLst>
              <a:ext uri="{FF2B5EF4-FFF2-40B4-BE49-F238E27FC236}">
                <a16:creationId xmlns:a16="http://schemas.microsoft.com/office/drawing/2014/main" id="{3AFC3B1C-0E76-44AA-847E-1E1141080709}"/>
              </a:ext>
            </a:extLst>
          </p:cNvPr>
          <p:cNvSpPr txBox="1"/>
          <p:nvPr/>
        </p:nvSpPr>
        <p:spPr>
          <a:xfrm>
            <a:off x="623943" y="1045220"/>
            <a:ext cx="9689951" cy="7074565"/>
          </a:xfrm>
          <a:prstGeom prst="rect">
            <a:avLst/>
          </a:prstGeom>
          <a:noFill/>
        </p:spPr>
        <p:txBody>
          <a:bodyPr wrap="square">
            <a:spAutoFit/>
          </a:bodyPr>
          <a:lstStyle/>
          <a:p>
            <a:pPr>
              <a:lnSpc>
                <a:spcPct val="115000"/>
              </a:lnSpc>
            </a:pPr>
            <a:r>
              <a:rPr lang="en-IN" sz="1800" b="1" dirty="0">
                <a:effectLst/>
                <a:latin typeface="Times New Roman" panose="02020603050405020304" pitchFamily="18" charset="0"/>
                <a:ea typeface="Times New Roman" panose="02020603050405020304" pitchFamily="18" charset="0"/>
              </a:rPr>
              <a:t>[1]</a:t>
            </a:r>
            <a:r>
              <a:rPr lang="en-IN" sz="1800" dirty="0">
                <a:effectLst/>
                <a:latin typeface="Times New Roman" panose="02020603050405020304" pitchFamily="18" charset="0"/>
                <a:ea typeface="Times New Roman" panose="02020603050405020304" pitchFamily="18" charset="0"/>
              </a:rPr>
              <a:t> Y. </a:t>
            </a:r>
            <a:r>
              <a:rPr lang="en-IN" sz="1800" dirty="0" err="1">
                <a:effectLst/>
                <a:latin typeface="Times New Roman" panose="02020603050405020304" pitchFamily="18" charset="0"/>
                <a:ea typeface="Times New Roman" panose="02020603050405020304" pitchFamily="18" charset="0"/>
              </a:rPr>
              <a:t>Chudasama</a:t>
            </a:r>
            <a:r>
              <a:rPr lang="en-IN" sz="1800" dirty="0">
                <a:effectLst/>
                <a:latin typeface="Times New Roman" panose="02020603050405020304" pitchFamily="18" charset="0"/>
                <a:ea typeface="Times New Roman" panose="02020603050405020304" pitchFamily="18" charset="0"/>
              </a:rPr>
              <a:t>, H. Huang, D. Purohit, and M.-E. Vidal, “Toward Interpretable Hybrid AI Integrating Knowledge Graphs and Symbolic Reasoning in Medicine,” IEEE Access, vol. 13, 2025, </a:t>
            </a:r>
            <a:r>
              <a:rPr lang="en-IN" sz="1800" dirty="0" err="1">
                <a:effectLst/>
                <a:latin typeface="Times New Roman" panose="02020603050405020304" pitchFamily="18" charset="0"/>
                <a:ea typeface="Times New Roman" panose="02020603050405020304" pitchFamily="18" charset="0"/>
              </a:rPr>
              <a:t>doi</a:t>
            </a:r>
            <a:r>
              <a:rPr lang="en-IN" sz="1800" dirty="0">
                <a:effectLst/>
                <a:latin typeface="Times New Roman" panose="02020603050405020304" pitchFamily="18" charset="0"/>
                <a:ea typeface="Times New Roman" panose="02020603050405020304" pitchFamily="18" charset="0"/>
              </a:rPr>
              <a:t> 10.1109ACCESS.2025.3529133.</a:t>
            </a:r>
            <a:endParaRPr lang="en-IN" sz="1600" dirty="0">
              <a:effectLst/>
              <a:latin typeface="Arial" panose="020B0604020202020204" pitchFamily="34" charset="0"/>
              <a:ea typeface="Arial" panose="020B0604020202020204" pitchFamily="34" charset="0"/>
            </a:endParaRPr>
          </a:p>
          <a:p>
            <a:pPr>
              <a:lnSpc>
                <a:spcPct val="115000"/>
              </a:lnSpc>
            </a:pPr>
            <a:r>
              <a:rPr lang="en-IN" sz="1800" dirty="0">
                <a:effectLst/>
                <a:latin typeface="Times New Roman" panose="02020603050405020304" pitchFamily="18" charset="0"/>
                <a:ea typeface="Times New Roman" panose="02020603050405020304" pitchFamily="18" charset="0"/>
              </a:rPr>
              <a:t> </a:t>
            </a:r>
            <a:endParaRPr lang="en-IN" sz="1600" dirty="0">
              <a:effectLst/>
              <a:latin typeface="Arial" panose="020B0604020202020204" pitchFamily="34" charset="0"/>
              <a:ea typeface="Arial" panose="020B0604020202020204" pitchFamily="34" charset="0"/>
            </a:endParaRPr>
          </a:p>
          <a:p>
            <a:pPr>
              <a:lnSpc>
                <a:spcPct val="115000"/>
              </a:lnSpc>
            </a:pPr>
            <a:r>
              <a:rPr lang="en-IN" sz="1800" b="1" dirty="0">
                <a:effectLst/>
                <a:latin typeface="Times New Roman" panose="02020603050405020304" pitchFamily="18" charset="0"/>
                <a:ea typeface="Times New Roman" panose="02020603050405020304" pitchFamily="18" charset="0"/>
              </a:rPr>
              <a:t>[2]</a:t>
            </a:r>
            <a:r>
              <a:rPr lang="en-IN" sz="1800" dirty="0">
                <a:effectLst/>
                <a:latin typeface="Times New Roman" panose="02020603050405020304" pitchFamily="18" charset="0"/>
                <a:ea typeface="Times New Roman" panose="02020603050405020304" pitchFamily="18" charset="0"/>
              </a:rPr>
              <a:t> M.-E. Vidal, Y. </a:t>
            </a:r>
            <a:r>
              <a:rPr lang="en-IN" sz="1800" dirty="0" err="1">
                <a:effectLst/>
                <a:latin typeface="Times New Roman" panose="02020603050405020304" pitchFamily="18" charset="0"/>
                <a:ea typeface="Times New Roman" panose="02020603050405020304" pitchFamily="18" charset="0"/>
              </a:rPr>
              <a:t>Chudasama</a:t>
            </a:r>
            <a:r>
              <a:rPr lang="en-IN" sz="1800" dirty="0">
                <a:effectLst/>
                <a:latin typeface="Times New Roman" panose="02020603050405020304" pitchFamily="18" charset="0"/>
                <a:ea typeface="Times New Roman" panose="02020603050405020304" pitchFamily="18" charset="0"/>
              </a:rPr>
              <a:t>, H. Huang, D. Purohit, and M. Torrente, “Integrating Knowledge Graphs with Symbolic AI: The Path to Interpretable Hybrid AI Systems in Medicine,” Web Semantics: Science, Services and Agents on the World Wide Web, vol. 84, Art. no. 100856, 2025, </a:t>
            </a:r>
            <a:r>
              <a:rPr lang="en-IN" sz="1800" dirty="0" err="1">
                <a:effectLst/>
                <a:latin typeface="Times New Roman" panose="02020603050405020304" pitchFamily="18" charset="0"/>
                <a:ea typeface="Times New Roman" panose="02020603050405020304" pitchFamily="18" charset="0"/>
              </a:rPr>
              <a:t>doi</a:t>
            </a:r>
            <a:r>
              <a:rPr lang="en-IN" sz="1800" dirty="0">
                <a:effectLst/>
                <a:latin typeface="Times New Roman" panose="02020603050405020304" pitchFamily="18" charset="0"/>
                <a:ea typeface="Times New Roman" panose="02020603050405020304" pitchFamily="18" charset="0"/>
              </a:rPr>
              <a:t>: 10.1016/j.websem.2024.100856.</a:t>
            </a:r>
            <a:endParaRPr lang="en-IN" sz="1600" dirty="0">
              <a:effectLst/>
              <a:latin typeface="Arial" panose="020B0604020202020204" pitchFamily="34" charset="0"/>
              <a:ea typeface="Arial" panose="020B0604020202020204" pitchFamily="34" charset="0"/>
            </a:endParaRPr>
          </a:p>
          <a:p>
            <a:pPr>
              <a:lnSpc>
                <a:spcPct val="115000"/>
              </a:lnSpc>
            </a:pPr>
            <a:r>
              <a:rPr lang="en-IN" sz="1800" dirty="0">
                <a:effectLst/>
                <a:latin typeface="Times New Roman" panose="02020603050405020304" pitchFamily="18" charset="0"/>
                <a:ea typeface="Times New Roman" panose="02020603050405020304" pitchFamily="18" charset="0"/>
              </a:rPr>
              <a:t> </a:t>
            </a:r>
            <a:endParaRPr lang="en-IN" sz="1600" dirty="0">
              <a:effectLst/>
              <a:latin typeface="Arial" panose="020B0604020202020204" pitchFamily="34" charset="0"/>
              <a:ea typeface="Arial" panose="020B0604020202020204" pitchFamily="34" charset="0"/>
            </a:endParaRPr>
          </a:p>
          <a:p>
            <a:pPr>
              <a:lnSpc>
                <a:spcPct val="115000"/>
              </a:lnSpc>
            </a:pPr>
            <a:r>
              <a:rPr lang="en-IN" sz="1800" b="1" dirty="0">
                <a:effectLst/>
                <a:latin typeface="Times New Roman" panose="02020603050405020304" pitchFamily="18" charset="0"/>
                <a:ea typeface="Times New Roman" panose="02020603050405020304" pitchFamily="18" charset="0"/>
              </a:rPr>
              <a:t>[3]</a:t>
            </a:r>
            <a:r>
              <a:rPr lang="en-IN" sz="1800" dirty="0">
                <a:effectLst/>
                <a:latin typeface="Times New Roman" panose="02020603050405020304" pitchFamily="18" charset="0"/>
                <a:ea typeface="Times New Roman" panose="02020603050405020304" pitchFamily="18" charset="0"/>
              </a:rPr>
              <a:t> E. Javid and W. Shah, “Hybrid AI Models for Large-Scale Information Extraction and Knowledge Map Construction,” Jan. 2025.</a:t>
            </a:r>
            <a:endParaRPr lang="en-IN" sz="1600" dirty="0">
              <a:effectLst/>
              <a:latin typeface="Arial" panose="020B0604020202020204" pitchFamily="34" charset="0"/>
              <a:ea typeface="Arial" panose="020B0604020202020204" pitchFamily="34" charset="0"/>
            </a:endParaRPr>
          </a:p>
          <a:p>
            <a:pPr>
              <a:lnSpc>
                <a:spcPct val="115000"/>
              </a:lnSpc>
            </a:pPr>
            <a:r>
              <a:rPr lang="en-IN" sz="1800" dirty="0">
                <a:effectLst/>
                <a:latin typeface="Times New Roman" panose="02020603050405020304" pitchFamily="18" charset="0"/>
                <a:ea typeface="Times New Roman" panose="02020603050405020304" pitchFamily="18" charset="0"/>
              </a:rPr>
              <a:t> </a:t>
            </a:r>
            <a:endParaRPr lang="en-IN" sz="1600" dirty="0">
              <a:effectLst/>
              <a:latin typeface="Arial" panose="020B0604020202020204" pitchFamily="34" charset="0"/>
              <a:ea typeface="Arial" panose="020B0604020202020204" pitchFamily="34" charset="0"/>
            </a:endParaRPr>
          </a:p>
          <a:p>
            <a:pPr>
              <a:lnSpc>
                <a:spcPct val="115000"/>
              </a:lnSpc>
            </a:pPr>
            <a:r>
              <a:rPr lang="en-IN" sz="1800" b="1" dirty="0">
                <a:effectLst/>
                <a:latin typeface="Times New Roman" panose="02020603050405020304" pitchFamily="18" charset="0"/>
                <a:ea typeface="Times New Roman" panose="02020603050405020304" pitchFamily="18" charset="0"/>
              </a:rPr>
              <a:t>[4]</a:t>
            </a:r>
            <a:r>
              <a:rPr lang="en-IN" sz="1800" dirty="0">
                <a:effectLst/>
                <a:latin typeface="Times New Roman" panose="02020603050405020304" pitchFamily="18" charset="0"/>
                <a:ea typeface="Times New Roman" panose="02020603050405020304" pitchFamily="18" charset="0"/>
              </a:rPr>
              <a:t> M. Aamir, Y. K. Yu, N. Choudhry, and U. A. Bhatti, “Enhancing chronic disease management: hybrid graph networks and explainable AI for intelligent diagnosis,” Sci. Rep., vol. 15, 2026, </a:t>
            </a:r>
            <a:r>
              <a:rPr lang="en-IN" sz="1800" dirty="0" err="1">
                <a:effectLst/>
                <a:latin typeface="Times New Roman" panose="02020603050405020304" pitchFamily="18" charset="0"/>
                <a:ea typeface="Times New Roman" panose="02020603050405020304" pitchFamily="18" charset="0"/>
              </a:rPr>
              <a:t>doi</a:t>
            </a:r>
            <a:r>
              <a:rPr lang="en-IN" sz="1800" dirty="0">
                <a:effectLst/>
                <a:latin typeface="Times New Roman" panose="02020603050405020304" pitchFamily="18" charset="0"/>
                <a:ea typeface="Times New Roman" panose="02020603050405020304" pitchFamily="18" charset="0"/>
              </a:rPr>
              <a:t>: 10.1038/s41598-025-34065-5.</a:t>
            </a:r>
            <a:endParaRPr lang="en-IN" sz="1600" dirty="0">
              <a:effectLst/>
              <a:latin typeface="Arial" panose="020B0604020202020204" pitchFamily="34" charset="0"/>
              <a:ea typeface="Arial" panose="020B0604020202020204" pitchFamily="34" charset="0"/>
            </a:endParaRPr>
          </a:p>
          <a:p>
            <a:pPr>
              <a:lnSpc>
                <a:spcPct val="115000"/>
              </a:lnSpc>
            </a:pPr>
            <a:r>
              <a:rPr lang="en-IN" sz="1800" dirty="0">
                <a:effectLst/>
                <a:latin typeface="Times New Roman" panose="02020603050405020304" pitchFamily="18" charset="0"/>
                <a:ea typeface="Times New Roman" panose="02020603050405020304" pitchFamily="18" charset="0"/>
              </a:rPr>
              <a:t> </a:t>
            </a:r>
            <a:endParaRPr lang="en-IN" sz="1600" dirty="0">
              <a:effectLst/>
              <a:latin typeface="Arial" panose="020B0604020202020204" pitchFamily="34" charset="0"/>
              <a:ea typeface="Arial" panose="020B0604020202020204" pitchFamily="34" charset="0"/>
            </a:endParaRPr>
          </a:p>
          <a:p>
            <a:pPr>
              <a:lnSpc>
                <a:spcPct val="115000"/>
              </a:lnSpc>
            </a:pPr>
            <a:r>
              <a:rPr lang="en-IN" sz="1800" b="1" dirty="0">
                <a:effectLst/>
                <a:latin typeface="Times New Roman" panose="02020603050405020304" pitchFamily="18" charset="0"/>
                <a:ea typeface="Times New Roman" panose="02020603050405020304" pitchFamily="18" charset="0"/>
              </a:rPr>
              <a:t>[5]</a:t>
            </a:r>
            <a:r>
              <a:rPr lang="en-IN" sz="1800" dirty="0">
                <a:effectLst/>
                <a:latin typeface="Times New Roman" panose="02020603050405020304" pitchFamily="18" charset="0"/>
                <a:ea typeface="Times New Roman" panose="02020603050405020304" pitchFamily="18" charset="0"/>
              </a:rPr>
              <a:t> S. </a:t>
            </a:r>
            <a:r>
              <a:rPr lang="en-IN" sz="1800" dirty="0" err="1">
                <a:effectLst/>
                <a:latin typeface="Times New Roman" panose="02020603050405020304" pitchFamily="18" charset="0"/>
                <a:ea typeface="Times New Roman" panose="02020603050405020304" pitchFamily="18" charset="0"/>
              </a:rPr>
              <a:t>Safaei</a:t>
            </a:r>
            <a:r>
              <a:rPr lang="en-IN" sz="1800" dirty="0">
                <a:effectLst/>
                <a:latin typeface="Times New Roman" panose="02020603050405020304" pitchFamily="18" charset="0"/>
                <a:ea typeface="Times New Roman" panose="02020603050405020304" pitchFamily="18" charset="0"/>
              </a:rPr>
              <a:t>, “Evaluating hybrid AI for prediction over lung cancer knowledge graphs,” Master’s thesis, Gottfried Wilhelm Leibniz Universität Hannover, Hanover, Germany, 2024.</a:t>
            </a:r>
            <a:endParaRPr lang="en-IN" sz="1600" dirty="0">
              <a:effectLst/>
              <a:latin typeface="Arial" panose="020B0604020202020204" pitchFamily="34" charset="0"/>
              <a:ea typeface="Arial" panose="020B0604020202020204" pitchFamily="34" charset="0"/>
            </a:endParaRPr>
          </a:p>
          <a:p>
            <a:pPr>
              <a:lnSpc>
                <a:spcPct val="115000"/>
              </a:lnSpc>
            </a:pPr>
            <a:r>
              <a:rPr lang="en-IN" sz="1800" dirty="0">
                <a:effectLst/>
                <a:latin typeface="Times New Roman" panose="02020603050405020304" pitchFamily="18" charset="0"/>
                <a:ea typeface="Times New Roman" panose="02020603050405020304" pitchFamily="18" charset="0"/>
              </a:rPr>
              <a:t> </a:t>
            </a:r>
            <a:endParaRPr lang="en-IN" sz="1600" dirty="0">
              <a:effectLst/>
              <a:latin typeface="Arial" panose="020B0604020202020204" pitchFamily="34" charset="0"/>
              <a:ea typeface="Arial" panose="020B0604020202020204" pitchFamily="34" charset="0"/>
            </a:endParaRPr>
          </a:p>
          <a:p>
            <a:pPr>
              <a:lnSpc>
                <a:spcPct val="115000"/>
              </a:lnSpc>
            </a:pPr>
            <a:r>
              <a:rPr lang="en-IN" sz="1800" b="1" dirty="0">
                <a:effectLst/>
                <a:latin typeface="Times New Roman" panose="02020603050405020304" pitchFamily="18" charset="0"/>
                <a:ea typeface="Times New Roman" panose="02020603050405020304" pitchFamily="18" charset="0"/>
              </a:rPr>
              <a:t>[6]</a:t>
            </a:r>
            <a:r>
              <a:rPr lang="en-IN" sz="1800" dirty="0">
                <a:effectLst/>
                <a:latin typeface="Times New Roman" panose="02020603050405020304" pitchFamily="18" charset="0"/>
                <a:ea typeface="Times New Roman" panose="02020603050405020304" pitchFamily="18" charset="0"/>
              </a:rPr>
              <a:t> H. Lu and S. Uddin, “Disease Prediction Using Graph Machine Learning Based on Electronic Health Data: A Review of Approaches and Trends,” Healthcare, vol. 11, Art. no. 1031, 2023, </a:t>
            </a:r>
            <a:r>
              <a:rPr lang="en-IN" sz="1800" dirty="0" err="1">
                <a:effectLst/>
                <a:latin typeface="Times New Roman" panose="02020603050405020304" pitchFamily="18" charset="0"/>
                <a:ea typeface="Times New Roman" panose="02020603050405020304" pitchFamily="18" charset="0"/>
              </a:rPr>
              <a:t>doi</a:t>
            </a:r>
            <a:r>
              <a:rPr lang="en-IN" sz="1800" dirty="0">
                <a:effectLst/>
                <a:latin typeface="Times New Roman" panose="02020603050405020304" pitchFamily="18" charset="0"/>
                <a:ea typeface="Times New Roman" panose="02020603050405020304" pitchFamily="18" charset="0"/>
              </a:rPr>
              <a:t>: 10.3390/healthcare11071031.</a:t>
            </a:r>
            <a:endParaRPr lang="en-IN" sz="16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5580871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1380</Words>
  <Application>Microsoft Office PowerPoint</Application>
  <PresentationFormat>Custom</PresentationFormat>
  <Paragraphs>162</Paragraphs>
  <Slides>12</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Fraunces Extra Bold</vt:lpstr>
      <vt:lpstr>Times New Roman</vt:lpstr>
      <vt:lpstr>Fraunces Light</vt:lpstr>
      <vt:lpstr>Calibri</vt:lpstr>
      <vt:lpstr>Calibri Light</vt:lpstr>
      <vt:lpstr>Nobile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Dhruv Jyoti</dc:creator>
  <cp:lastModifiedBy>Dhruv Jyoti</cp:lastModifiedBy>
  <cp:revision>5</cp:revision>
  <dcterms:created xsi:type="dcterms:W3CDTF">2026-02-03T17:45:48Z</dcterms:created>
  <dcterms:modified xsi:type="dcterms:W3CDTF">2026-02-03T18:23:21Z</dcterms:modified>
</cp:coreProperties>
</file>